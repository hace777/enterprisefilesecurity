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6256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747775"/>
          </p15:clr>
        </p15:guide>
        <p15:guide id="2" pos="292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2E49"/>
    <a:srgbClr val="1730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84"/>
        <p:guide pos="292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尊敬的各位老师、同学，大家上午好。我们今天汇报的项目是“Windows下企业私有文件安全访问控制系统”。本方案基于eCryptfs的堆叠式思想，旨在为企业提供一套透明、安全且易于管理的私有文件保护方案。接下来，我们将从项目背景、需求分析、系统架构等多个方面进行详细阐述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本次汇报将围绕更新后的八个核心部分展开。依次为：项目背景与意义、系统需求分析、系统总体架构、数据流设计、密钥体系设计、需求规格说明、开发计划与展望，以及核心创新点。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首先来看项目背景。随着《数据安全法》等法规的出台，数据加密已成为企业的法定义务。然而，现实情况不容乐观，数据泄露事件频发，内部威胁和USB滥用是主要原因。这些触目惊心的案例和数据，凸显了在终端设备上实施强数据加密的紧迫性。因此，我们的项目定位就是开发一套面向中小企业、成本可控、且能实现透明加密和多重防护的解决方案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基于上述背景和思想，我们梳理出系统的六大核心需求。这包括确保数据存储安全的“文件透明加解密”；保障密钥管理安全的“混合密钥体系”；支持团队协作的“多用户安全共享”；实现精细化权限管理的“RBAC访问控制”；防止物理泄露的“USB外设管控”；以及提供事后追溯能力的“安全审计日志”。这六大需求共同构成了我们系统的功能蓝图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接下来是第四和第五个需求。第四是基于角色的访问控制，也就是RBAC。我们预设了管理员、文件所有者等角色，并为每个角色分配不同的权限，确保用户只能做其职责范围内的操作。第五是USB设备管控，这是防止数据物理泄露的关键。我们通过设备白名单、类型控制以及BadUSB检测等手段，有效封堵数据通过USB接口泄露的渠道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本页展示了系统在Windows平台下的四层总体架构。自顶向下分别是：展示层，提供GUI控制台、系统托盘和CLI工具，满足不同场景的操作需求；业务逻辑层，处理用户认证、权限管理、密钥生命周期及USB管控等核心业务，并通过服务总线实现模块解耦；加密内核层，基于Dokany过滤驱动拦截文件I/O请求，利用高性能加密引擎处理加解密，并监控USB设备事件；最底层是数据存储层，负责加密文件的持久化存储，支持NTFS/ReFS文件系统，并维护密钥与日志数据库。该架构层次清晰，各层职责明确，保证了系统的安全性、可扩展性和易用性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接下来我们深入看一下核心的数据流设计。首先是文件写入加密流程。当一个应用程序要写文件时，我们的内核模块会拦截这个请求。系统首先验证用户的身份和权限，然后获取文件的加密密钥FEK。接着，使用FEK通过AES-GCM算法对数据进行加密，并生成一个认证标签。最后，将加密后的数据和认证信息打包，写入磁盘。整个过程对应用层完全透明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与写入流程相对应的是读取解密流程。当应用读取文件时，同样的，请求会被内核模块拦截。系统在验证权限后，会从文件头解密出FEK，然后用FEK解密从磁盘读取的密文数据。在返回数据之前，系统会首先验证GCM认证标签，确保数据在存储过程中没有被篡改。只有通过验证的明文数据才会被返回给应用程序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密钥体系的另一个亮点是其多用户共享模型。当共享文件时，所有者用接收者的公钥加密FEK并存入文件头。被授权用户访问时，用自己的私钥解密即可。撤销权限也非常简单，只需从文件头移除对应的FEK密文。此外，我们还设计了完整的密钥生命周期管理，包括生成、分发、轮换和销毁，确保密钥管理的全流程安全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为了更规范地指导开发，我们制定了需求规格说明书。这里展示了核心的功能模块概览，包括透明加密、密钥管理等五大模块。同时，我们梳理了高优先级的功能用例，如用户登录、文件加解密和共享等，这些将是我们开发阶段首先要实现的功能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这是我们团队的人员分工和初步的开发计划。我们设立了项目负责人、内核开发、应用开发、测试和文档撰写等岗位，明确了各自的职责和产出物。项目计划用四周时间完成，从开题、开发、联调到最终收尾，每个阶段都有明确的任务目标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最后，对我们的项目进行总结。本项目的核心创新在于多层次的密钥管理、透明化与安全性的统一，以及立体化的防护模型。我们预期将交付一个可演示的原型系统，实现文件加密、身份认证、权限控制和USB管控这四大核心功能。我的汇报到此结束，感谢各位老师和同学的聆听，欢迎大家提问和指正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819" b="819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-127000"/>
            <a:ext cx="16256000" cy="9144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B3A5C">
                  <a:alpha val="91000"/>
                </a:srgbClr>
              </a:gs>
              <a:gs pos="60000">
                <a:srgbClr val="1B3A5C">
                  <a:alpha val="75000"/>
                </a:srgbClr>
              </a:gs>
              <a:gs pos="100000">
                <a:srgbClr val="1B3A5C">
                  <a:alpha val="56000"/>
                </a:srgbClr>
              </a:gs>
            </a:gsLst>
            <a:lin ang="5400000"/>
          </a:gra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270000" y="2540000"/>
            <a:ext cx="1371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Windows下企业私有文件安全访问控制系统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3492500"/>
            <a:ext cx="5080000" cy="25400"/>
          </a:xfrm>
          <a:prstGeom prst="roundRect">
            <a:avLst>
              <a:gd name="adj" fmla="val 0"/>
            </a:avLst>
          </a:prstGeom>
          <a:solidFill>
            <a:srgbClr val="C45D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2540000" y="3746500"/>
            <a:ext cx="11176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500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基于 eCryptfs 的私有文件安全访问控制方案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810000" y="5080000"/>
            <a:ext cx="8636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信息系统安全课程设计 | 信息安全专业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810000" y="5524500"/>
            <a:ext cx="8636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zh-CN" altLang="en-US" sz="16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王昊</a:t>
            </a:r>
            <a:r>
              <a:rPr lang="en-US" altLang="zh-CN" sz="16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zh-CN" altLang="en-US" sz="16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唐骏宇</a:t>
            </a:r>
            <a:r>
              <a:rPr lang="en-US" altLang="zh-CN" sz="16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zh-CN" altLang="en-US" sz="16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华振杨</a:t>
            </a:r>
            <a:r>
              <a:rPr lang="en-US" altLang="zh-CN" sz="16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zh-CN" altLang="en-US" sz="16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马骏飞</a:t>
            </a:r>
            <a:r>
              <a:rPr lang="en-US" sz="16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| 指导教师：赵博白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810000" y="5969000"/>
            <a:ext cx="8636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2026年6月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0" y="9017000"/>
            <a:ext cx="16256000" cy="127000"/>
          </a:xfrm>
          <a:prstGeom prst="roundRect">
            <a:avLst>
              <a:gd name="adj" fmla="val 0"/>
            </a:avLst>
          </a:prstGeom>
          <a:solidFill>
            <a:srgbClr val="C45D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矩形 10"/>
          <p:cNvSpPr/>
          <p:nvPr/>
        </p:nvSpPr>
        <p:spPr>
          <a:xfrm>
            <a:off x="76835" y="8554720"/>
            <a:ext cx="1223645" cy="439420"/>
          </a:xfrm>
          <a:prstGeom prst="rect">
            <a:avLst/>
          </a:prstGeom>
          <a:solidFill>
            <a:srgbClr val="152E49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4318000" y="101600"/>
            <a:ext cx="1905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 系统体架构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101600"/>
            <a:ext cx="1905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 数据流设计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382000" y="101600"/>
            <a:ext cx="1905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 密钥体系设计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414000" y="101600"/>
            <a:ext cx="1778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 需求规格说明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192000" y="101600"/>
            <a:ext cx="1778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 开发计划与展望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914400"/>
            <a:ext cx="50800" cy="4572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965200" y="914400"/>
            <a:ext cx="5080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8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汇报提纲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65200" y="1371600"/>
            <a:ext cx="5080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 spc="3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CONTENTS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08000" y="2159000"/>
            <a:ext cx="3556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miter lim="10000000"/>
          </a:ln>
          <a:effectLst>
            <a:outerShdw blurRad="127000" dist="50800" dir="5400000" algn="bl" rotWithShape="0">
              <a:srgbClr val="000000">
                <a:alpha val="51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2349500"/>
            <a:ext cx="304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29845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项目背景与意义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3429000"/>
            <a:ext cx="3048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梳理数据安全现状，剖析现有方案不足，明确项目在企业私有文件安全管控领域的定位与价值。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318000" y="2159000"/>
            <a:ext cx="3556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miter lim="10000000"/>
          </a:ln>
          <a:effectLst>
            <a:outerShdw blurRad="127000" dist="50800" dir="5400000" algn="bl" rotWithShape="0">
              <a:srgbClr val="000000">
                <a:alpha val="51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572000" y="2349500"/>
            <a:ext cx="304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572000" y="29845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系统需求分析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572000" y="3429000"/>
            <a:ext cx="3048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围绕企业核心诉求，详述透明加密、密钥管理、权限控制、外设管控及全流程审计等核心需求。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128000" y="2159000"/>
            <a:ext cx="3556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miter lim="10000000"/>
          </a:ln>
          <a:effectLst>
            <a:outerShdw blurRad="127000" dist="50800" dir="5400000" algn="bl" rotWithShape="0">
              <a:srgbClr val="000000">
                <a:alpha val="51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382000" y="2349500"/>
            <a:ext cx="304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382000" y="29845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系统总体架构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0" y="3429000"/>
            <a:ext cx="3048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构建分层系统总体架构，确立以密钥体系为核心的多重安全防护机制，保障系统底层安全。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1684000" y="2159000"/>
            <a:ext cx="3556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miter lim="10000000"/>
          </a:ln>
          <a:effectLst>
            <a:outerShdw blurRad="127000" dist="50800" dir="5400000" algn="bl" rotWithShape="0">
              <a:srgbClr val="000000">
                <a:alpha val="51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11938000" y="2349500"/>
            <a:ext cx="304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1938000" y="29845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数据流设计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1938000" y="3429000"/>
            <a:ext cx="3048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规划安全高效的数据流设计，明确文件加密、解密、传输及存储各环节的数据流转与处理逻辑。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508000" y="4953000"/>
            <a:ext cx="3556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miter lim="10000000"/>
          </a:ln>
          <a:effectLst>
            <a:outerShdw blurRad="127000" dist="50800" dir="5400000" algn="bl" rotWithShape="0">
              <a:srgbClr val="000000">
                <a:alpha val="51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762000" y="5143500"/>
            <a:ext cx="304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0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62000" y="57150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密钥体系设计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62000" y="6159500"/>
            <a:ext cx="304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设计混合密钥体系保障密钥安全，实现密钥的安全生成、存储、分发与销毁全生命周期管理。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4318000" y="4953000"/>
            <a:ext cx="3556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miter lim="10000000"/>
          </a:ln>
          <a:effectLst>
            <a:outerShdw blurRad="127000" dist="50800" dir="5400000" algn="bl" rotWithShape="0">
              <a:srgbClr val="000000">
                <a:alpha val="51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4572000" y="5143500"/>
            <a:ext cx="304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0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4572000" y="57150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需求规格说明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4572000" y="6159500"/>
            <a:ext cx="304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制定详尽的需求规格说明，明确功能与非功能需求，为系统开发与测试提供明确依据。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128000" y="4953000"/>
            <a:ext cx="3556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miter lim="10000000"/>
          </a:ln>
          <a:effectLst>
            <a:outerShdw blurRad="127000" dist="50800" dir="5400000" algn="bl" rotWithShape="0">
              <a:srgbClr val="000000">
                <a:alpha val="51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8382000" y="5143500"/>
            <a:ext cx="304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0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8382000" y="57150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开发计划与展望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8382000" y="6159500"/>
            <a:ext cx="304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明确人员分工与阶段进度计划，对系统后续优化方向及应用场景拓展进行总结与展望。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11684000" y="4953000"/>
            <a:ext cx="3556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miter lim="10000000"/>
          </a:ln>
          <a:effectLst>
            <a:outerShdw blurRad="127000" dist="50800" dir="5400000" algn="bl" rotWithShape="0">
              <a:srgbClr val="000000">
                <a:alpha val="51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AutoShape 43"/>
          <p:cNvSpPr/>
          <p:nvPr/>
        </p:nvSpPr>
        <p:spPr>
          <a:xfrm>
            <a:off x="11938000" y="5143500"/>
            <a:ext cx="304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0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11938000" y="57150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核心创新点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11938000" y="6159500"/>
            <a:ext cx="304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建立三维防护模型构建全方位屏障，实现文件操作无感的透明加密核心功能。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15240000" y="8763000"/>
            <a:ext cx="508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3302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 需求分析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 系统架构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398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 安全机制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446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 分工计划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" y="711200"/>
            <a:ext cx="50800" cy="4064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12800" y="711200"/>
            <a:ext cx="6350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8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项目背景与意义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09600" y="1371600"/>
            <a:ext cx="47371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>
            <a:off x="883567" y="1544718"/>
            <a:ext cx="390737" cy="439579"/>
          </a:xfrm>
          <a:custGeom>
            <a:avLst/>
            <a:gdLst/>
            <a:ahLst/>
            <a:cxnLst/>
            <a:rect l="l" t="t" r="r" b="b"/>
            <a:pathLst>
              <a:path w="390737" h="439579">
                <a:moveTo>
                  <a:pt x="99695" y="151843"/>
                </a:moveTo>
                <a:lnTo>
                  <a:pt x="86501" y="136999"/>
                </a:lnTo>
                <a:cubicBezTo>
                  <a:pt x="77682" y="127078"/>
                  <a:pt x="77682" y="110964"/>
                  <a:pt x="86501" y="101043"/>
                </a:cubicBezTo>
                <a:lnTo>
                  <a:pt x="167429" y="9921"/>
                </a:lnTo>
                <a:cubicBezTo>
                  <a:pt x="176248" y="0"/>
                  <a:pt x="190571" y="0"/>
                  <a:pt x="199390" y="9921"/>
                </a:cubicBezTo>
                <a:lnTo>
                  <a:pt x="212584" y="24843"/>
                </a:lnTo>
                <a:cubicBezTo>
                  <a:pt x="221404" y="34764"/>
                  <a:pt x="221404" y="50878"/>
                  <a:pt x="212584" y="60799"/>
                </a:cubicBezTo>
                <a:lnTo>
                  <a:pt x="131657" y="151843"/>
                </a:lnTo>
                <a:cubicBezTo>
                  <a:pt x="122837" y="161764"/>
                  <a:pt x="108515" y="161764"/>
                  <a:pt x="99695" y="151843"/>
                </a:cubicBezTo>
                <a:close/>
                <a:moveTo>
                  <a:pt x="174766" y="198120"/>
                </a:moveTo>
                <a:lnTo>
                  <a:pt x="152612" y="173194"/>
                </a:lnTo>
                <a:lnTo>
                  <a:pt x="231634" y="84294"/>
                </a:lnTo>
                <a:lnTo>
                  <a:pt x="315877" y="179070"/>
                </a:lnTo>
                <a:lnTo>
                  <a:pt x="236855" y="267970"/>
                </a:lnTo>
                <a:lnTo>
                  <a:pt x="214701" y="243044"/>
                </a:lnTo>
                <a:lnTo>
                  <a:pt x="51012" y="427194"/>
                </a:lnTo>
                <a:cubicBezTo>
                  <a:pt x="40005" y="439578"/>
                  <a:pt x="22155" y="439578"/>
                  <a:pt x="11077" y="427194"/>
                </a:cubicBezTo>
                <a:cubicBezTo>
                  <a:pt x="0" y="414813"/>
                  <a:pt x="71" y="394731"/>
                  <a:pt x="11077" y="382270"/>
                </a:cubicBezTo>
                <a:lnTo>
                  <a:pt x="174766" y="198120"/>
                </a:lnTo>
                <a:close/>
                <a:moveTo>
                  <a:pt x="255835" y="327421"/>
                </a:moveTo>
                <a:cubicBezTo>
                  <a:pt x="247015" y="317500"/>
                  <a:pt x="247015" y="301386"/>
                  <a:pt x="255835" y="291465"/>
                </a:cubicBezTo>
                <a:lnTo>
                  <a:pt x="336762" y="200421"/>
                </a:lnTo>
                <a:cubicBezTo>
                  <a:pt x="345581" y="190500"/>
                  <a:pt x="359904" y="190500"/>
                  <a:pt x="368724" y="200421"/>
                </a:cubicBezTo>
                <a:lnTo>
                  <a:pt x="381917" y="215265"/>
                </a:lnTo>
                <a:cubicBezTo>
                  <a:pt x="390737" y="225186"/>
                  <a:pt x="390737" y="241300"/>
                  <a:pt x="381917" y="251221"/>
                </a:cubicBezTo>
                <a:lnTo>
                  <a:pt x="300990" y="342343"/>
                </a:lnTo>
                <a:cubicBezTo>
                  <a:pt x="292171" y="352264"/>
                  <a:pt x="277848" y="352264"/>
                  <a:pt x="269029" y="342343"/>
                </a:cubicBezTo>
                <a:lnTo>
                  <a:pt x="255835" y="327499"/>
                </a:lnTo>
                <a:close/>
              </a:path>
            </a:pathLst>
          </a:custGeom>
          <a:solidFill>
            <a:srgbClr val="C45D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397000" y="1574800"/>
            <a:ext cx="3683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2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法律法规强制驱动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63600" y="2133600"/>
            <a:ext cx="4229100" cy="241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《数据安全法》：</a:t>
            </a: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明确要求企业采取加密、访问控制等必要技术措施，保障数据全生命周期安全。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《个人信息保护法》：</a:t>
            </a: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对敏感个人信息处理，必须采用加密、去标识化等严格保护技术手段。</a:t>
            </a:r>
            <a:endParaRPr lang="en-US" sz="1400" b="0" i="0" u="none" strike="noStrike">
              <a:solidFill>
                <a:srgbClr val="1F2937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《网络安全法》：</a:t>
            </a: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防范网络攻击，保障关键信息基础设施与重要数据的保密性与完整性。</a:t>
            </a:r>
            <a:endParaRPr lang="en-US" sz="1400" b="0" i="0" u="none" strike="noStrike">
              <a:solidFill>
                <a:srgbClr val="1F2937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indent="0" algn="l">
              <a:lnSpc>
                <a:spcPct val="117000"/>
              </a:lnSpc>
              <a:spcBef>
                <a:spcPts val="400"/>
              </a:spcBef>
            </a:pPr>
            <a:r>
              <a:rPr lang="en-US" sz="14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核心结论：数据加密与访问控制已成为企业合规的法定必要义务。</a:t>
            </a:r>
            <a:endParaRPr lang="en-US" sz="1400" b="1" i="0" u="none" strike="noStrike">
              <a:solidFill>
                <a:srgbClr val="C45D3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753100" y="1371600"/>
            <a:ext cx="47498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>
            <a:off x="6005593" y="1574800"/>
            <a:ext cx="409415" cy="381000"/>
          </a:xfrm>
          <a:custGeom>
            <a:avLst/>
            <a:gdLst/>
            <a:ahLst/>
            <a:cxnLst/>
            <a:rect l="l" t="t" r="r" b="b"/>
            <a:pathLst>
              <a:path w="409415" h="381000">
                <a:moveTo>
                  <a:pt x="204707" y="0"/>
                </a:moveTo>
                <a:cubicBezTo>
                  <a:pt x="216374" y="0"/>
                  <a:pt x="227091" y="6429"/>
                  <a:pt x="232647" y="16669"/>
                </a:cubicBezTo>
                <a:lnTo>
                  <a:pt x="404097" y="334169"/>
                </a:lnTo>
                <a:cubicBezTo>
                  <a:pt x="409414" y="344011"/>
                  <a:pt x="409177" y="355918"/>
                  <a:pt x="403462" y="365523"/>
                </a:cubicBezTo>
                <a:cubicBezTo>
                  <a:pt x="397747" y="375126"/>
                  <a:pt x="387350" y="381000"/>
                  <a:pt x="376157" y="381000"/>
                </a:cubicBezTo>
                <a:lnTo>
                  <a:pt x="33257" y="381000"/>
                </a:lnTo>
                <a:cubicBezTo>
                  <a:pt x="22064" y="381000"/>
                  <a:pt x="11746" y="375126"/>
                  <a:pt x="5952" y="365523"/>
                </a:cubicBezTo>
                <a:cubicBezTo>
                  <a:pt x="158" y="355918"/>
                  <a:pt x="0" y="344011"/>
                  <a:pt x="5317" y="334169"/>
                </a:cubicBezTo>
                <a:lnTo>
                  <a:pt x="176767" y="16669"/>
                </a:lnTo>
                <a:cubicBezTo>
                  <a:pt x="182323" y="6429"/>
                  <a:pt x="193040" y="0"/>
                  <a:pt x="204707" y="0"/>
                </a:cubicBezTo>
                <a:close/>
                <a:moveTo>
                  <a:pt x="204707" y="133350"/>
                </a:moveTo>
                <a:cubicBezTo>
                  <a:pt x="194149" y="133350"/>
                  <a:pt x="185657" y="141842"/>
                  <a:pt x="185657" y="152400"/>
                </a:cubicBezTo>
                <a:lnTo>
                  <a:pt x="185657" y="241300"/>
                </a:lnTo>
                <a:cubicBezTo>
                  <a:pt x="185657" y="251858"/>
                  <a:pt x="194149" y="260350"/>
                  <a:pt x="204707" y="260350"/>
                </a:cubicBezTo>
                <a:cubicBezTo>
                  <a:pt x="215265" y="260350"/>
                  <a:pt x="223757" y="251858"/>
                  <a:pt x="223757" y="241300"/>
                </a:cubicBezTo>
                <a:lnTo>
                  <a:pt x="223757" y="152400"/>
                </a:lnTo>
                <a:cubicBezTo>
                  <a:pt x="223757" y="141842"/>
                  <a:pt x="215265" y="133350"/>
                  <a:pt x="204707" y="133350"/>
                </a:cubicBezTo>
                <a:close/>
                <a:moveTo>
                  <a:pt x="225899" y="304800"/>
                </a:moveTo>
                <a:cubicBezTo>
                  <a:pt x="226382" y="296934"/>
                  <a:pt x="222459" y="289450"/>
                  <a:pt x="215715" y="285370"/>
                </a:cubicBezTo>
                <a:cubicBezTo>
                  <a:pt x="208972" y="281291"/>
                  <a:pt x="200522" y="281291"/>
                  <a:pt x="193777" y="285370"/>
                </a:cubicBezTo>
                <a:cubicBezTo>
                  <a:pt x="187034" y="289450"/>
                  <a:pt x="183111" y="296934"/>
                  <a:pt x="183593" y="304800"/>
                </a:cubicBezTo>
                <a:cubicBezTo>
                  <a:pt x="183111" y="312666"/>
                  <a:pt x="187034" y="320150"/>
                  <a:pt x="193777" y="324230"/>
                </a:cubicBezTo>
                <a:cubicBezTo>
                  <a:pt x="200522" y="328309"/>
                  <a:pt x="208972" y="328309"/>
                  <a:pt x="215715" y="324230"/>
                </a:cubicBezTo>
                <a:cubicBezTo>
                  <a:pt x="222459" y="320150"/>
                  <a:pt x="226382" y="312666"/>
                  <a:pt x="225899" y="304800"/>
                </a:cubicBezTo>
                <a:close/>
              </a:path>
            </a:pathLst>
          </a:custGeom>
          <a:solidFill>
            <a:srgbClr val="C45D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540500" y="1574800"/>
            <a:ext cx="3683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2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数据泄露严峻现状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007100" y="2133600"/>
            <a:ext cx="4241800" cy="241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IBM 2025数据泄露成本报告显示，单次数据泄露平均成本高达</a:t>
            </a:r>
            <a:r>
              <a:rPr lang="en-US" sz="14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445万美元</a:t>
            </a: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，合规与修复成本持续攀升。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内部人员威胁占比居高不下，约</a:t>
            </a:r>
            <a:r>
              <a:rPr lang="en-US" sz="14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34%</a:t>
            </a: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的数据泄露事件源于员工操作不当或恶意窃取，是主要安全风险点。</a:t>
            </a:r>
            <a:endParaRPr lang="en-US" sz="1400" b="0" i="0" u="none" strike="noStrike">
              <a:solidFill>
                <a:srgbClr val="1F2937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外设管控缺失普遍，超过60%的中小企业未能有效限制USB等移动存储设备，极易造成数据外泄。</a:t>
            </a:r>
            <a:endParaRPr lang="en-US" sz="1400" b="0" i="0" u="none" strike="noStrike">
              <a:solidFill>
                <a:srgbClr val="1F2937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10909300" y="1371600"/>
            <a:ext cx="47371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Freeform 20"/>
          <p:cNvSpPr/>
          <p:nvPr/>
        </p:nvSpPr>
        <p:spPr>
          <a:xfrm>
            <a:off x="11163300" y="1574800"/>
            <a:ext cx="408861" cy="408940"/>
          </a:xfrm>
          <a:custGeom>
            <a:avLst/>
            <a:gdLst/>
            <a:ahLst/>
            <a:cxnLst/>
            <a:rect l="l" t="t" r="r" b="b"/>
            <a:pathLst>
              <a:path w="408861" h="408940">
                <a:moveTo>
                  <a:pt x="330200" y="165100"/>
                </a:moveTo>
                <a:cubicBezTo>
                  <a:pt x="330200" y="201532"/>
                  <a:pt x="318372" y="235187"/>
                  <a:pt x="298450" y="262492"/>
                </a:cubicBezTo>
                <a:lnTo>
                  <a:pt x="398939" y="363061"/>
                </a:lnTo>
                <a:cubicBezTo>
                  <a:pt x="408861" y="372982"/>
                  <a:pt x="408861" y="389096"/>
                  <a:pt x="398939" y="399017"/>
                </a:cubicBezTo>
                <a:cubicBezTo>
                  <a:pt x="389018" y="408940"/>
                  <a:pt x="372904" y="408940"/>
                  <a:pt x="362983" y="399017"/>
                </a:cubicBezTo>
                <a:lnTo>
                  <a:pt x="262492" y="298450"/>
                </a:lnTo>
                <a:cubicBezTo>
                  <a:pt x="235187" y="318372"/>
                  <a:pt x="201532" y="330200"/>
                  <a:pt x="165100" y="330200"/>
                </a:cubicBezTo>
                <a:cubicBezTo>
                  <a:pt x="73897" y="330200"/>
                  <a:pt x="0" y="256303"/>
                  <a:pt x="0" y="165100"/>
                </a:cubicBezTo>
                <a:cubicBezTo>
                  <a:pt x="0" y="73897"/>
                  <a:pt x="73897" y="0"/>
                  <a:pt x="165100" y="0"/>
                </a:cubicBezTo>
                <a:cubicBezTo>
                  <a:pt x="256303" y="0"/>
                  <a:pt x="330200" y="73897"/>
                  <a:pt x="330200" y="165100"/>
                </a:cubicBezTo>
                <a:close/>
                <a:moveTo>
                  <a:pt x="82550" y="171450"/>
                </a:moveTo>
                <a:lnTo>
                  <a:pt x="82550" y="222250"/>
                </a:lnTo>
                <a:cubicBezTo>
                  <a:pt x="82550" y="232808"/>
                  <a:pt x="91042" y="241300"/>
                  <a:pt x="101600" y="241300"/>
                </a:cubicBezTo>
                <a:cubicBezTo>
                  <a:pt x="112158" y="241300"/>
                  <a:pt x="120650" y="232808"/>
                  <a:pt x="120650" y="222250"/>
                </a:cubicBezTo>
                <a:lnTo>
                  <a:pt x="120650" y="171450"/>
                </a:lnTo>
                <a:cubicBezTo>
                  <a:pt x="120650" y="160892"/>
                  <a:pt x="112158" y="152400"/>
                  <a:pt x="101600" y="152400"/>
                </a:cubicBezTo>
                <a:cubicBezTo>
                  <a:pt x="91042" y="152400"/>
                  <a:pt x="82550" y="160892"/>
                  <a:pt x="82550" y="171450"/>
                </a:cubicBezTo>
                <a:close/>
                <a:moveTo>
                  <a:pt x="146050" y="95250"/>
                </a:moveTo>
                <a:lnTo>
                  <a:pt x="146050" y="222250"/>
                </a:lnTo>
                <a:cubicBezTo>
                  <a:pt x="146050" y="232808"/>
                  <a:pt x="154542" y="241300"/>
                  <a:pt x="165100" y="241300"/>
                </a:cubicBezTo>
                <a:cubicBezTo>
                  <a:pt x="175658" y="241300"/>
                  <a:pt x="184150" y="232808"/>
                  <a:pt x="184150" y="222250"/>
                </a:cubicBezTo>
                <a:lnTo>
                  <a:pt x="184150" y="95250"/>
                </a:lnTo>
                <a:cubicBezTo>
                  <a:pt x="184150" y="84692"/>
                  <a:pt x="175658" y="76200"/>
                  <a:pt x="165100" y="76200"/>
                </a:cubicBezTo>
                <a:cubicBezTo>
                  <a:pt x="154542" y="76200"/>
                  <a:pt x="146050" y="84692"/>
                  <a:pt x="146050" y="95250"/>
                </a:cubicBezTo>
                <a:close/>
                <a:moveTo>
                  <a:pt x="209550" y="146050"/>
                </a:moveTo>
                <a:lnTo>
                  <a:pt x="209550" y="222250"/>
                </a:lnTo>
                <a:cubicBezTo>
                  <a:pt x="209550" y="232808"/>
                  <a:pt x="218042" y="241300"/>
                  <a:pt x="228600" y="241300"/>
                </a:cubicBezTo>
                <a:cubicBezTo>
                  <a:pt x="239158" y="241300"/>
                  <a:pt x="247650" y="232808"/>
                  <a:pt x="247650" y="222250"/>
                </a:cubicBezTo>
                <a:lnTo>
                  <a:pt x="247650" y="146050"/>
                </a:lnTo>
                <a:cubicBezTo>
                  <a:pt x="247650" y="135492"/>
                  <a:pt x="239158" y="127000"/>
                  <a:pt x="228600" y="127000"/>
                </a:cubicBezTo>
                <a:cubicBezTo>
                  <a:pt x="218042" y="127000"/>
                  <a:pt x="209550" y="135492"/>
                  <a:pt x="209550" y="146050"/>
                </a:cubicBezTo>
                <a:close/>
              </a:path>
            </a:pathLst>
          </a:custGeom>
          <a:solidFill>
            <a:srgbClr val="C45D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1696700" y="1574800"/>
            <a:ext cx="3683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2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典型案例深刻警示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1163300" y="2133600"/>
            <a:ext cx="4229100" cy="241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终端失窃案例：</a:t>
            </a: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2024年某科技公司员工笔记本被盗，因本地数据未加密，直接导致数百万用户敏感信息泄露，企业面临巨额赔偿与信誉危机。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4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内部舞弊案例：</a:t>
            </a: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2025年某金融机构员工通过USB拷贝核心客户数据出售牟利，因缺乏文件访问审计与加密管控，案发后数据已大范围扩散。</a:t>
            </a:r>
            <a:endParaRPr lang="en-US" sz="1400" b="0" i="0" u="none" strike="noStrike">
              <a:solidFill>
                <a:srgbClr val="1F2937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indent="0" algn="l">
              <a:lnSpc>
                <a:spcPct val="117000"/>
              </a:lnSpc>
              <a:spcBef>
                <a:spcPts val="400"/>
              </a:spcBef>
            </a:pPr>
            <a:r>
              <a:rPr lang="en-US" sz="14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警示：终端侧的被动防御已无法应对内外部复合威胁。</a:t>
            </a:r>
            <a:endParaRPr lang="en-US" sz="1400" b="1" i="0" u="none" strike="noStrike">
              <a:solidFill>
                <a:srgbClr val="C45D3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09600" y="4876800"/>
            <a:ext cx="150368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现有方案痛点分析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09600" y="5283200"/>
            <a:ext cx="47371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152400" tIns="101600" rIns="152400" bIns="10160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全盘加密 (BitLocker):</a:t>
            </a:r>
            <a:r>
              <a:rPr lang="en-US" sz="1400" b="0" i="0" u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无法实现文件级精细权限控制。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753100" y="5283200"/>
            <a:ext cx="47498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152400" tIns="101600" rIns="152400" bIns="10160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文件级加密 (Windows EFS):</a:t>
            </a:r>
            <a:r>
              <a:rPr lang="en-US" sz="1300" b="0" i="0" u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依赖AD域，密钥管理单一，跨平台兼容性差。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0909300" y="5283200"/>
            <a:ext cx="47371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152400" tIns="101600" rIns="152400" bIns="10160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应用层加密:</a:t>
            </a:r>
            <a:r>
              <a:rPr lang="en-US" sz="1400" b="0" i="0" u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对应用侵入性强，无法保护所有类型文件。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09600" y="6248400"/>
            <a:ext cx="15036800" cy="14732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63600" y="6350000"/>
            <a:ext cx="508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本项目核心定位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63600" y="6705600"/>
            <a:ext cx="145288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面向中小企业私有化部署，设计轻量级Windows端文件安全访问控制系统，聚焦核心痛点：</a:t>
            </a:r>
            <a:r>
              <a:rPr lang="en-US" sz="12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1.私有化部署：</a:t>
            </a:r>
            <a:r>
              <a:rPr lang="en-US" sz="12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数据本地留存，密钥自主掌控；</a:t>
            </a:r>
            <a:r>
              <a:rPr lang="en-US" sz="12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2.透明加密：</a:t>
            </a:r>
            <a:r>
              <a:rPr lang="en-US" sz="12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对用户无感知，不改变办公习惯；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3.低成本易用：</a:t>
            </a:r>
            <a:r>
              <a:rPr lang="en-US" sz="12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基于开源技术栈，适配中小企业预算；</a:t>
            </a:r>
            <a:r>
              <a:rPr lang="en-US" sz="12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4.全维多重防护：</a:t>
            </a:r>
            <a:r>
              <a:rPr lang="en-US" sz="12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融合身份认证、文件加密、外设管控，构建闭环防护。</a:t>
            </a:r>
            <a:endParaRPr lang="en-US" sz="1200" b="0" i="0" u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15240000" y="7797800"/>
            <a:ext cx="508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254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 项目背景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 系统架构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398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 安全机制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446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 分工计划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" y="711200"/>
            <a:ext cx="50800" cy="4064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12800" y="711200"/>
            <a:ext cx="6350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8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核心需求总览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1524000"/>
            <a:ext cx="4572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1778000"/>
            <a:ext cx="457200" cy="4572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651000" y="1778000"/>
            <a:ext cx="3556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文件透明加解密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2413000"/>
            <a:ext cx="4064000" cy="177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实现文件读写过程中的自动加解密，与文件格式无关，确保存储态与传输态数据安全，同时控制延迟在毫秒级，不影响用户体验。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445000"/>
            <a:ext cx="2032000" cy="330200"/>
          </a:xfrm>
          <a:prstGeom prst="roundRect">
            <a:avLst>
              <a:gd name="adj" fmla="val 0"/>
            </a:avLst>
          </a:prstGeom>
          <a:solidFill>
            <a:srgbClr val="1B3A5C">
              <a:alpha val="82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4445000"/>
            <a:ext cx="2032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透明无感加密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842000" y="1524000"/>
            <a:ext cx="4572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096000" y="1778000"/>
            <a:ext cx="457200" cy="4572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731000" y="1778000"/>
            <a:ext cx="3556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混合密钥体系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096000" y="2413000"/>
            <a:ext cx="4064000" cy="177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构建层次化的密钥管理架构，结合对称与非对称加密优势，保障密钥生成、存储、分发与轮换的安全性，兼顾灵活共享需求。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096000" y="4445000"/>
            <a:ext cx="2032000" cy="330200"/>
          </a:xfrm>
          <a:prstGeom prst="roundRect">
            <a:avLst>
              <a:gd name="adj" fmla="val 0"/>
            </a:avLst>
          </a:prstGeom>
          <a:solidFill>
            <a:srgbClr val="1B3A5C">
              <a:alpha val="82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096000" y="4445000"/>
            <a:ext cx="2032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层级化密钥管控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160000" y="1524000"/>
            <a:ext cx="4572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414000" y="1778000"/>
            <a:ext cx="457200" cy="4572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11049000" y="1778000"/>
            <a:ext cx="3556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多用户安全共享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0414000" y="2413000"/>
            <a:ext cx="4064000" cy="177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基于公钥加密文件密钥（FEK）的方式，实现不同用户间文件的安全共享，确保只有授权用户可解密访问，兼顾协作效率与数据安全。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0414000" y="4445000"/>
            <a:ext cx="2032000" cy="330200"/>
          </a:xfrm>
          <a:prstGeom prst="roundRect">
            <a:avLst>
              <a:gd name="adj" fmla="val 0"/>
            </a:avLst>
          </a:prstGeom>
          <a:solidFill>
            <a:srgbClr val="1B3A5C">
              <a:alpha val="82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10414000" y="4445000"/>
            <a:ext cx="2032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授权协作共享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62000" y="5461000"/>
            <a:ext cx="6858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1016000" y="5715000"/>
            <a:ext cx="457200" cy="4572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1651000" y="5715000"/>
            <a:ext cx="571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RBAC访问控制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016000" y="6350000"/>
            <a:ext cx="6350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建立基于角色的访问控制模型，为不同角色分配最小必要权限，实现权限的集中管理与细粒度管控，防止越权访问数据。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016000" y="7366000"/>
            <a:ext cx="2032000" cy="304800"/>
          </a:xfrm>
          <a:prstGeom prst="roundRect">
            <a:avLst>
              <a:gd name="adj" fmla="val 0"/>
            </a:avLst>
          </a:prstGeom>
          <a:solidFill>
            <a:srgbClr val="1B3A5C">
              <a:alpha val="82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1016000" y="7366000"/>
            <a:ext cx="2032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最小权限管控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128000" y="5461000"/>
            <a:ext cx="6858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8382000" y="5715000"/>
            <a:ext cx="457200" cy="457200"/>
          </a:xfrm>
          <a:prstGeom prst="ellipse">
            <a:avLst/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9017000" y="5715000"/>
            <a:ext cx="571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USB外设白名单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382000" y="6350000"/>
            <a:ext cx="6350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实施严格的USB外设设备级管控，通过白名单机制限制未授权设备接入，有效阻断数据通过USB接口进行非法拷贝与泄露的途径。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382000" y="7366000"/>
            <a:ext cx="2032000" cy="304800"/>
          </a:xfrm>
          <a:prstGeom prst="roundRect">
            <a:avLst>
              <a:gd name="adj" fmla="val 0"/>
            </a:avLst>
          </a:prstGeom>
          <a:solidFill>
            <a:srgbClr val="1B3A5C">
              <a:alpha val="82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8382000" y="7366000"/>
            <a:ext cx="2032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物理外设阻断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15240000" y="8763000"/>
            <a:ext cx="508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254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 项目背景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302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 需求分析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 系统架构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446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 分工计划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" y="711200"/>
            <a:ext cx="50800" cy="4064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12800" y="711200"/>
            <a:ext cx="7620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8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RBAC访问控制与USB设备安全管控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09600" y="1371600"/>
            <a:ext cx="7493000" cy="711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>
            <a:off x="863600" y="1587500"/>
            <a:ext cx="402654" cy="419337"/>
          </a:xfrm>
          <a:custGeom>
            <a:avLst/>
            <a:gdLst/>
            <a:ahLst/>
            <a:cxnLst/>
            <a:rect l="l" t="t" r="r" b="b"/>
            <a:pathLst>
              <a:path w="402654" h="419337">
                <a:moveTo>
                  <a:pt x="203200" y="165100"/>
                </a:moveTo>
                <a:cubicBezTo>
                  <a:pt x="239648" y="165100"/>
                  <a:pt x="269240" y="128111"/>
                  <a:pt x="269240" y="82550"/>
                </a:cubicBezTo>
                <a:cubicBezTo>
                  <a:pt x="269240" y="36989"/>
                  <a:pt x="239648" y="0"/>
                  <a:pt x="203200" y="0"/>
                </a:cubicBezTo>
                <a:cubicBezTo>
                  <a:pt x="166752" y="0"/>
                  <a:pt x="137160" y="36989"/>
                  <a:pt x="137160" y="82550"/>
                </a:cubicBezTo>
                <a:cubicBezTo>
                  <a:pt x="137160" y="128111"/>
                  <a:pt x="166752" y="165100"/>
                  <a:pt x="203200" y="165100"/>
                </a:cubicBezTo>
                <a:close/>
                <a:moveTo>
                  <a:pt x="60960" y="171450"/>
                </a:moveTo>
                <a:cubicBezTo>
                  <a:pt x="86194" y="171450"/>
                  <a:pt x="106680" y="145842"/>
                  <a:pt x="106680" y="114300"/>
                </a:cubicBezTo>
                <a:cubicBezTo>
                  <a:pt x="106680" y="82758"/>
                  <a:pt x="86194" y="57150"/>
                  <a:pt x="60960" y="57150"/>
                </a:cubicBezTo>
                <a:cubicBezTo>
                  <a:pt x="35726" y="57150"/>
                  <a:pt x="15240" y="82758"/>
                  <a:pt x="15240" y="114300"/>
                </a:cubicBezTo>
                <a:cubicBezTo>
                  <a:pt x="15240" y="145842"/>
                  <a:pt x="35726" y="171450"/>
                  <a:pt x="60960" y="171450"/>
                </a:cubicBezTo>
                <a:close/>
                <a:moveTo>
                  <a:pt x="0" y="317500"/>
                </a:moveTo>
                <a:lnTo>
                  <a:pt x="0" y="342900"/>
                </a:lnTo>
                <a:cubicBezTo>
                  <a:pt x="0" y="356949"/>
                  <a:pt x="9080" y="368300"/>
                  <a:pt x="20320" y="368300"/>
                </a:cubicBezTo>
                <a:lnTo>
                  <a:pt x="75374" y="368300"/>
                </a:lnTo>
                <a:cubicBezTo>
                  <a:pt x="72644" y="360521"/>
                  <a:pt x="71120" y="351949"/>
                  <a:pt x="71120" y="342900"/>
                </a:cubicBezTo>
                <a:lnTo>
                  <a:pt x="71120" y="330200"/>
                </a:lnTo>
                <a:cubicBezTo>
                  <a:pt x="71120" y="287973"/>
                  <a:pt x="83820" y="249396"/>
                  <a:pt x="104712" y="220186"/>
                </a:cubicBezTo>
                <a:cubicBezTo>
                  <a:pt x="97282" y="217407"/>
                  <a:pt x="89408" y="215900"/>
                  <a:pt x="81280" y="215900"/>
                </a:cubicBezTo>
                <a:cubicBezTo>
                  <a:pt x="36385" y="215900"/>
                  <a:pt x="0" y="261383"/>
                  <a:pt x="0" y="317500"/>
                </a:cubicBezTo>
                <a:close/>
                <a:moveTo>
                  <a:pt x="391160" y="114300"/>
                </a:moveTo>
                <a:cubicBezTo>
                  <a:pt x="391160" y="82758"/>
                  <a:pt x="370674" y="57150"/>
                  <a:pt x="345440" y="57150"/>
                </a:cubicBezTo>
                <a:cubicBezTo>
                  <a:pt x="320206" y="57150"/>
                  <a:pt x="299720" y="82758"/>
                  <a:pt x="299720" y="114300"/>
                </a:cubicBezTo>
                <a:cubicBezTo>
                  <a:pt x="299720" y="145842"/>
                  <a:pt x="320206" y="171450"/>
                  <a:pt x="345440" y="171450"/>
                </a:cubicBezTo>
                <a:cubicBezTo>
                  <a:pt x="370674" y="171450"/>
                  <a:pt x="391160" y="145842"/>
                  <a:pt x="391160" y="114300"/>
                </a:cubicBezTo>
                <a:close/>
                <a:moveTo>
                  <a:pt x="101600" y="330200"/>
                </a:moveTo>
                <a:lnTo>
                  <a:pt x="101600" y="342900"/>
                </a:lnTo>
                <a:cubicBezTo>
                  <a:pt x="101600" y="356949"/>
                  <a:pt x="110680" y="368300"/>
                  <a:pt x="121920" y="368300"/>
                </a:cubicBezTo>
                <a:lnTo>
                  <a:pt x="221488" y="368300"/>
                </a:lnTo>
                <a:cubicBezTo>
                  <a:pt x="216980" y="351155"/>
                  <a:pt x="217488" y="333058"/>
                  <a:pt x="228282" y="317500"/>
                </a:cubicBezTo>
                <a:cubicBezTo>
                  <a:pt x="219392" y="304641"/>
                  <a:pt x="215265" y="285987"/>
                  <a:pt x="221044" y="267256"/>
                </a:cubicBezTo>
                <a:cubicBezTo>
                  <a:pt x="225234" y="253682"/>
                  <a:pt x="231140" y="240982"/>
                  <a:pt x="238442" y="229711"/>
                </a:cubicBezTo>
                <a:cubicBezTo>
                  <a:pt x="241872" y="224473"/>
                  <a:pt x="245808" y="220424"/>
                  <a:pt x="250063" y="217488"/>
                </a:cubicBezTo>
                <a:cubicBezTo>
                  <a:pt x="236030" y="208359"/>
                  <a:pt x="220091" y="203200"/>
                  <a:pt x="203200" y="203200"/>
                </a:cubicBezTo>
                <a:cubicBezTo>
                  <a:pt x="147066" y="203200"/>
                  <a:pt x="101600" y="260032"/>
                  <a:pt x="101600" y="330200"/>
                </a:cubicBezTo>
                <a:close/>
                <a:moveTo>
                  <a:pt x="396621" y="295196"/>
                </a:moveTo>
                <a:cubicBezTo>
                  <a:pt x="400622" y="292337"/>
                  <a:pt x="402654" y="286385"/>
                  <a:pt x="400939" y="280907"/>
                </a:cubicBezTo>
                <a:cubicBezTo>
                  <a:pt x="397891" y="271066"/>
                  <a:pt x="393636" y="261779"/>
                  <a:pt x="388302" y="253602"/>
                </a:cubicBezTo>
                <a:cubicBezTo>
                  <a:pt x="385382" y="249079"/>
                  <a:pt x="380238" y="248285"/>
                  <a:pt x="376238" y="251223"/>
                </a:cubicBezTo>
                <a:cubicBezTo>
                  <a:pt x="362394" y="261222"/>
                  <a:pt x="345376" y="248999"/>
                  <a:pt x="345376" y="228918"/>
                </a:cubicBezTo>
                <a:cubicBezTo>
                  <a:pt x="345376" y="223122"/>
                  <a:pt x="342265" y="217964"/>
                  <a:pt x="337693" y="217091"/>
                </a:cubicBezTo>
                <a:cubicBezTo>
                  <a:pt x="329502" y="215502"/>
                  <a:pt x="320675" y="215502"/>
                  <a:pt x="312484" y="217091"/>
                </a:cubicBezTo>
                <a:cubicBezTo>
                  <a:pt x="307912" y="217964"/>
                  <a:pt x="304800" y="223122"/>
                  <a:pt x="304800" y="228918"/>
                </a:cubicBezTo>
                <a:cubicBezTo>
                  <a:pt x="304800" y="248920"/>
                  <a:pt x="287782" y="261222"/>
                  <a:pt x="273939" y="251223"/>
                </a:cubicBezTo>
                <a:cubicBezTo>
                  <a:pt x="269938" y="248364"/>
                  <a:pt x="264795" y="249157"/>
                  <a:pt x="261874" y="253602"/>
                </a:cubicBezTo>
                <a:cubicBezTo>
                  <a:pt x="256540" y="261779"/>
                  <a:pt x="252286" y="271066"/>
                  <a:pt x="249238" y="280907"/>
                </a:cubicBezTo>
                <a:cubicBezTo>
                  <a:pt x="247586" y="286306"/>
                  <a:pt x="249555" y="292259"/>
                  <a:pt x="253556" y="295116"/>
                </a:cubicBezTo>
                <a:cubicBezTo>
                  <a:pt x="267462" y="305118"/>
                  <a:pt x="267462" y="329644"/>
                  <a:pt x="253556" y="339725"/>
                </a:cubicBezTo>
                <a:cubicBezTo>
                  <a:pt x="249555" y="342582"/>
                  <a:pt x="247523" y="348536"/>
                  <a:pt x="249238" y="353932"/>
                </a:cubicBezTo>
                <a:cubicBezTo>
                  <a:pt x="252286" y="363776"/>
                  <a:pt x="256540" y="373062"/>
                  <a:pt x="261874" y="381237"/>
                </a:cubicBezTo>
                <a:cubicBezTo>
                  <a:pt x="264795" y="385762"/>
                  <a:pt x="269938" y="386556"/>
                  <a:pt x="273939" y="383619"/>
                </a:cubicBezTo>
                <a:cubicBezTo>
                  <a:pt x="287782" y="373617"/>
                  <a:pt x="304800" y="385921"/>
                  <a:pt x="304800" y="405924"/>
                </a:cubicBezTo>
                <a:cubicBezTo>
                  <a:pt x="304800" y="411717"/>
                  <a:pt x="307912" y="416877"/>
                  <a:pt x="312484" y="417751"/>
                </a:cubicBezTo>
                <a:cubicBezTo>
                  <a:pt x="320675" y="419337"/>
                  <a:pt x="329502" y="419337"/>
                  <a:pt x="337693" y="417751"/>
                </a:cubicBezTo>
                <a:cubicBezTo>
                  <a:pt x="342265" y="416877"/>
                  <a:pt x="345376" y="411717"/>
                  <a:pt x="345376" y="405924"/>
                </a:cubicBezTo>
                <a:cubicBezTo>
                  <a:pt x="345376" y="385921"/>
                  <a:pt x="362394" y="373617"/>
                  <a:pt x="376238" y="383619"/>
                </a:cubicBezTo>
                <a:cubicBezTo>
                  <a:pt x="380238" y="386478"/>
                  <a:pt x="385382" y="385682"/>
                  <a:pt x="388302" y="381237"/>
                </a:cubicBezTo>
                <a:cubicBezTo>
                  <a:pt x="393636" y="373062"/>
                  <a:pt x="397891" y="363776"/>
                  <a:pt x="400939" y="353932"/>
                </a:cubicBezTo>
                <a:cubicBezTo>
                  <a:pt x="402590" y="348536"/>
                  <a:pt x="400622" y="342582"/>
                  <a:pt x="396621" y="339725"/>
                </a:cubicBezTo>
                <a:cubicBezTo>
                  <a:pt x="382714" y="329724"/>
                  <a:pt x="382714" y="305198"/>
                  <a:pt x="396621" y="295116"/>
                </a:cubicBezTo>
                <a:close/>
                <a:moveTo>
                  <a:pt x="299720" y="317500"/>
                </a:moveTo>
                <a:cubicBezTo>
                  <a:pt x="299720" y="299977"/>
                  <a:pt x="311100" y="285750"/>
                  <a:pt x="325120" y="285750"/>
                </a:cubicBezTo>
                <a:cubicBezTo>
                  <a:pt x="339140" y="285750"/>
                  <a:pt x="350520" y="299977"/>
                  <a:pt x="350520" y="317500"/>
                </a:cubicBezTo>
                <a:cubicBezTo>
                  <a:pt x="350520" y="335023"/>
                  <a:pt x="339140" y="349250"/>
                  <a:pt x="325120" y="349250"/>
                </a:cubicBezTo>
                <a:cubicBezTo>
                  <a:pt x="311100" y="349250"/>
                  <a:pt x="299720" y="335023"/>
                  <a:pt x="299720" y="317500"/>
                </a:cubicBezTo>
                <a:close/>
              </a:path>
            </a:pathLst>
          </a:cu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397000" y="1574800"/>
            <a:ext cx="3810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2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基于角色的精细化访问控制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63600" y="2184400"/>
            <a:ext cx="6985000" cy="12192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2286000"/>
            <a:ext cx="1143000" cy="304800"/>
          </a:xfrm>
          <a:prstGeom prst="roundRect">
            <a:avLst>
              <a:gd name="adj" fmla="val 0"/>
            </a:avLst>
          </a:prstGeom>
          <a:solidFill>
            <a:srgbClr val="C45D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2286000"/>
            <a:ext cx="1143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管理员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2667000"/>
            <a:ext cx="66802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负责系统全局配置、角色权限分配与管理，掌控系统核心设置，是权限体系的最高管理者，可配置USB策略及审计规则。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63600" y="3530600"/>
            <a:ext cx="6985000" cy="12192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16000" y="3632200"/>
            <a:ext cx="1143000" cy="3048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16000" y="3632200"/>
            <a:ext cx="1143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文件所有者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16000" y="4013200"/>
            <a:ext cx="66802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对自建文件拥有完全控制权，可执行创建、读写、删除、共享操作，并能为其他用户分配该文件的具体访问权限。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63600" y="4876800"/>
            <a:ext cx="6985000" cy="12192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016000" y="4978400"/>
            <a:ext cx="1143000" cy="304800"/>
          </a:xfrm>
          <a:prstGeom prst="roundRect">
            <a:avLst>
              <a:gd name="adj" fmla="val 0"/>
            </a:avLst>
          </a:prstGeom>
          <a:solidFill>
            <a:srgbClr val="3A5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16000" y="4978400"/>
            <a:ext cx="1143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普通用户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016000" y="5359400"/>
            <a:ext cx="66802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仅能读写已被授权的文件资源，操作范围严格限制在分配的权限内，无法访问未授权数据，保障数据最小化暴露。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63600" y="6223000"/>
            <a:ext cx="6985000" cy="12192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1016000" y="6324600"/>
            <a:ext cx="1143000" cy="304800"/>
          </a:xfrm>
          <a:prstGeom prst="roundRect">
            <a:avLst>
              <a:gd name="adj" fmla="val 0"/>
            </a:avLst>
          </a:prstGeom>
          <a:solidFill>
            <a:srgbClr val="64748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1016000" y="6324600"/>
            <a:ext cx="1143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审计员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016000" y="6705600"/>
            <a:ext cx="66802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拥有独立的只读审计权限，可查看全系统操作日志与USB访问记录，不参与业务操作，形成独立的监督与追溯机制。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63600" y="7747000"/>
            <a:ext cx="6985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核心策略流程：用户请求 → 身份强验证 → 角色权限查询 → 策略匹配判定 → 执行允许/拒绝动作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255000" y="1371600"/>
            <a:ext cx="7493000" cy="711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8509000" y="1574800"/>
            <a:ext cx="406400" cy="406400"/>
          </a:xfrm>
          <a:prstGeom prst="ellipse">
            <a:avLst/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9042400" y="1574800"/>
            <a:ext cx="5080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2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USB外设全生命周期安全管控体系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509000" y="2082800"/>
            <a:ext cx="6985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封堵物理端口泄露风险，构建“准入-监控-审计-防御”闭环安全防线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509000" y="2590800"/>
            <a:ext cx="6985000" cy="9652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Freeform 36"/>
          <p:cNvSpPr/>
          <p:nvPr/>
        </p:nvSpPr>
        <p:spPr>
          <a:xfrm>
            <a:off x="8711644" y="2867025"/>
            <a:ext cx="356713" cy="311150"/>
          </a:xfrm>
          <a:custGeom>
            <a:avLst/>
            <a:gdLst/>
            <a:ahLst/>
            <a:cxnLst/>
            <a:rect l="l" t="t" r="r" b="b"/>
            <a:pathLst>
              <a:path w="356713" h="311150">
                <a:moveTo>
                  <a:pt x="178356" y="0"/>
                </a:moveTo>
                <a:cubicBezTo>
                  <a:pt x="128473" y="0"/>
                  <a:pt x="88530" y="25559"/>
                  <a:pt x="59452" y="55979"/>
                </a:cubicBezTo>
                <a:cubicBezTo>
                  <a:pt x="30560" y="86191"/>
                  <a:pt x="11235" y="122237"/>
                  <a:pt x="2038" y="147032"/>
                </a:cubicBezTo>
                <a:cubicBezTo>
                  <a:pt x="0" y="152519"/>
                  <a:pt x="0" y="158631"/>
                  <a:pt x="2038" y="164118"/>
                </a:cubicBezTo>
                <a:cubicBezTo>
                  <a:pt x="11235" y="188913"/>
                  <a:pt x="30560" y="225027"/>
                  <a:pt x="59452" y="255171"/>
                </a:cubicBezTo>
                <a:cubicBezTo>
                  <a:pt x="88530" y="285521"/>
                  <a:pt x="128473" y="311150"/>
                  <a:pt x="178356" y="311150"/>
                </a:cubicBezTo>
                <a:cubicBezTo>
                  <a:pt x="228239" y="311150"/>
                  <a:pt x="268182" y="285591"/>
                  <a:pt x="297260" y="255171"/>
                </a:cubicBezTo>
                <a:cubicBezTo>
                  <a:pt x="326152" y="224959"/>
                  <a:pt x="345477" y="188913"/>
                  <a:pt x="354674" y="164118"/>
                </a:cubicBezTo>
                <a:cubicBezTo>
                  <a:pt x="356712" y="158631"/>
                  <a:pt x="356712" y="152519"/>
                  <a:pt x="354674" y="147032"/>
                </a:cubicBezTo>
                <a:cubicBezTo>
                  <a:pt x="345477" y="122237"/>
                  <a:pt x="326152" y="86123"/>
                  <a:pt x="297260" y="55979"/>
                </a:cubicBezTo>
                <a:cubicBezTo>
                  <a:pt x="268182" y="25629"/>
                  <a:pt x="228239" y="0"/>
                  <a:pt x="178356" y="0"/>
                </a:cubicBezTo>
                <a:close/>
                <a:moveTo>
                  <a:pt x="89456" y="155575"/>
                </a:moveTo>
                <a:cubicBezTo>
                  <a:pt x="89456" y="100377"/>
                  <a:pt x="129291" y="55563"/>
                  <a:pt x="178356" y="55563"/>
                </a:cubicBezTo>
                <a:cubicBezTo>
                  <a:pt x="227421" y="55563"/>
                  <a:pt x="267256" y="100377"/>
                  <a:pt x="267256" y="155575"/>
                </a:cubicBezTo>
                <a:cubicBezTo>
                  <a:pt x="267256" y="210773"/>
                  <a:pt x="227421" y="255587"/>
                  <a:pt x="178356" y="255587"/>
                </a:cubicBezTo>
                <a:cubicBezTo>
                  <a:pt x="129291" y="255587"/>
                  <a:pt x="89456" y="210773"/>
                  <a:pt x="89456" y="155575"/>
                </a:cubicBezTo>
                <a:close/>
                <a:moveTo>
                  <a:pt x="178356" y="111125"/>
                </a:moveTo>
                <a:cubicBezTo>
                  <a:pt x="178356" y="135642"/>
                  <a:pt x="160638" y="155575"/>
                  <a:pt x="138845" y="155575"/>
                </a:cubicBezTo>
                <a:cubicBezTo>
                  <a:pt x="131744" y="155575"/>
                  <a:pt x="125078" y="153491"/>
                  <a:pt x="119276" y="149741"/>
                </a:cubicBezTo>
                <a:cubicBezTo>
                  <a:pt x="118657" y="157311"/>
                  <a:pt x="119213" y="165090"/>
                  <a:pt x="121065" y="172799"/>
                </a:cubicBezTo>
                <a:cubicBezTo>
                  <a:pt x="129523" y="208359"/>
                  <a:pt x="162058" y="229472"/>
                  <a:pt x="193667" y="219958"/>
                </a:cubicBezTo>
                <a:cubicBezTo>
                  <a:pt x="225275" y="210443"/>
                  <a:pt x="244043" y="173841"/>
                  <a:pt x="235585" y="138281"/>
                </a:cubicBezTo>
                <a:cubicBezTo>
                  <a:pt x="228054" y="106542"/>
                  <a:pt x="201321" y="86330"/>
                  <a:pt x="173171" y="89108"/>
                </a:cubicBezTo>
                <a:cubicBezTo>
                  <a:pt x="176442" y="95567"/>
                  <a:pt x="178356" y="103068"/>
                  <a:pt x="178356" y="111125"/>
                </a:cubicBezTo>
                <a:close/>
              </a:path>
            </a:pathLst>
          </a:cu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9220200" y="2692400"/>
            <a:ext cx="381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设备白名单准入机制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9220200" y="3022600"/>
            <a:ext cx="60706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管理员预设允许接入的USB设备指纹库，仅匹配库内设备可正常使用，彻底禁止未知外设接入。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509000" y="3683000"/>
            <a:ext cx="6985000" cy="9652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Freeform 40"/>
          <p:cNvSpPr/>
          <p:nvPr/>
        </p:nvSpPr>
        <p:spPr>
          <a:xfrm>
            <a:off x="8712200" y="3937000"/>
            <a:ext cx="355669" cy="352196"/>
          </a:xfrm>
          <a:custGeom>
            <a:avLst/>
            <a:gdLst/>
            <a:ahLst/>
            <a:cxnLst/>
            <a:rect l="l" t="t" r="r" b="b"/>
            <a:pathLst>
              <a:path w="355669" h="352196">
                <a:moveTo>
                  <a:pt x="33338" y="177800"/>
                </a:moveTo>
                <a:cubicBezTo>
                  <a:pt x="33338" y="97998"/>
                  <a:pt x="97998" y="33338"/>
                  <a:pt x="177800" y="33338"/>
                </a:cubicBezTo>
                <a:cubicBezTo>
                  <a:pt x="221625" y="33338"/>
                  <a:pt x="260866" y="52854"/>
                  <a:pt x="287397" y="83690"/>
                </a:cubicBezTo>
                <a:cubicBezTo>
                  <a:pt x="293370" y="90706"/>
                  <a:pt x="303928" y="91470"/>
                  <a:pt x="310872" y="85496"/>
                </a:cubicBezTo>
                <a:cubicBezTo>
                  <a:pt x="317818" y="79524"/>
                  <a:pt x="318651" y="68967"/>
                  <a:pt x="312678" y="62022"/>
                </a:cubicBezTo>
                <a:cubicBezTo>
                  <a:pt x="280104" y="24031"/>
                  <a:pt x="231765" y="0"/>
                  <a:pt x="177800" y="0"/>
                </a:cubicBezTo>
                <a:cubicBezTo>
                  <a:pt x="79593" y="0"/>
                  <a:pt x="0" y="79593"/>
                  <a:pt x="0" y="177800"/>
                </a:cubicBezTo>
                <a:lnTo>
                  <a:pt x="0" y="205581"/>
                </a:lnTo>
                <a:cubicBezTo>
                  <a:pt x="0" y="214819"/>
                  <a:pt x="7431" y="222250"/>
                  <a:pt x="16669" y="222250"/>
                </a:cubicBezTo>
                <a:cubicBezTo>
                  <a:pt x="25905" y="222250"/>
                  <a:pt x="33338" y="214819"/>
                  <a:pt x="33338" y="205581"/>
                </a:cubicBezTo>
                <a:lnTo>
                  <a:pt x="33338" y="177800"/>
                </a:lnTo>
                <a:close/>
                <a:moveTo>
                  <a:pt x="351780" y="141059"/>
                </a:moveTo>
                <a:cubicBezTo>
                  <a:pt x="349905" y="132030"/>
                  <a:pt x="341015" y="126266"/>
                  <a:pt x="332055" y="128210"/>
                </a:cubicBezTo>
                <a:cubicBezTo>
                  <a:pt x="323096" y="130155"/>
                  <a:pt x="317263" y="138976"/>
                  <a:pt x="319207" y="147935"/>
                </a:cubicBezTo>
                <a:cubicBezTo>
                  <a:pt x="321221" y="157589"/>
                  <a:pt x="322332" y="167590"/>
                  <a:pt x="322332" y="177869"/>
                </a:cubicBezTo>
                <a:lnTo>
                  <a:pt x="322332" y="205651"/>
                </a:lnTo>
                <a:cubicBezTo>
                  <a:pt x="322332" y="214888"/>
                  <a:pt x="329763" y="222319"/>
                  <a:pt x="339001" y="222319"/>
                </a:cubicBezTo>
                <a:cubicBezTo>
                  <a:pt x="348238" y="222319"/>
                  <a:pt x="355669" y="214888"/>
                  <a:pt x="355669" y="205651"/>
                </a:cubicBezTo>
                <a:lnTo>
                  <a:pt x="355669" y="177869"/>
                </a:lnTo>
                <a:cubicBezTo>
                  <a:pt x="355669" y="165298"/>
                  <a:pt x="354350" y="153005"/>
                  <a:pt x="351850" y="141129"/>
                </a:cubicBezTo>
                <a:close/>
                <a:moveTo>
                  <a:pt x="177800" y="55562"/>
                </a:moveTo>
                <a:cubicBezTo>
                  <a:pt x="164603" y="55562"/>
                  <a:pt x="151825" y="57647"/>
                  <a:pt x="139948" y="61535"/>
                </a:cubicBezTo>
                <a:cubicBezTo>
                  <a:pt x="129391" y="65007"/>
                  <a:pt x="126961" y="77996"/>
                  <a:pt x="134183" y="86469"/>
                </a:cubicBezTo>
                <a:cubicBezTo>
                  <a:pt x="139115" y="92234"/>
                  <a:pt x="147241" y="93970"/>
                  <a:pt x="154603" y="91956"/>
                </a:cubicBezTo>
                <a:cubicBezTo>
                  <a:pt x="161964" y="89941"/>
                  <a:pt x="169743" y="88900"/>
                  <a:pt x="177800" y="88900"/>
                </a:cubicBezTo>
                <a:cubicBezTo>
                  <a:pt x="226903" y="88900"/>
                  <a:pt x="266700" y="128697"/>
                  <a:pt x="266700" y="177800"/>
                </a:cubicBezTo>
                <a:lnTo>
                  <a:pt x="266700" y="195094"/>
                </a:lnTo>
                <a:cubicBezTo>
                  <a:pt x="266700" y="212595"/>
                  <a:pt x="265659" y="230029"/>
                  <a:pt x="263644" y="247392"/>
                </a:cubicBezTo>
                <a:cubicBezTo>
                  <a:pt x="262463" y="257532"/>
                  <a:pt x="270173" y="266700"/>
                  <a:pt x="280452" y="266700"/>
                </a:cubicBezTo>
                <a:cubicBezTo>
                  <a:pt x="288647" y="266700"/>
                  <a:pt x="295662" y="260727"/>
                  <a:pt x="296634" y="252600"/>
                </a:cubicBezTo>
                <a:cubicBezTo>
                  <a:pt x="298926" y="233571"/>
                  <a:pt x="300107" y="214401"/>
                  <a:pt x="300107" y="195163"/>
                </a:cubicBezTo>
                <a:lnTo>
                  <a:pt x="300107" y="177869"/>
                </a:lnTo>
                <a:cubicBezTo>
                  <a:pt x="300107" y="110360"/>
                  <a:pt x="245378" y="55632"/>
                  <a:pt x="177869" y="55632"/>
                </a:cubicBezTo>
                <a:close/>
                <a:moveTo>
                  <a:pt x="104666" y="103276"/>
                </a:moveTo>
                <a:cubicBezTo>
                  <a:pt x="98346" y="95915"/>
                  <a:pt x="87094" y="95359"/>
                  <a:pt x="81121" y="103000"/>
                </a:cubicBezTo>
                <a:cubicBezTo>
                  <a:pt x="65079" y="123695"/>
                  <a:pt x="55562" y="149602"/>
                  <a:pt x="55562" y="177800"/>
                </a:cubicBezTo>
                <a:lnTo>
                  <a:pt x="55562" y="195094"/>
                </a:lnTo>
                <a:cubicBezTo>
                  <a:pt x="55562" y="211901"/>
                  <a:pt x="53757" y="228709"/>
                  <a:pt x="50145" y="245031"/>
                </a:cubicBezTo>
                <a:cubicBezTo>
                  <a:pt x="47784" y="255866"/>
                  <a:pt x="55632" y="266631"/>
                  <a:pt x="66744" y="266631"/>
                </a:cubicBezTo>
                <a:cubicBezTo>
                  <a:pt x="74037" y="266631"/>
                  <a:pt x="80566" y="261769"/>
                  <a:pt x="82163" y="254615"/>
                </a:cubicBezTo>
                <a:cubicBezTo>
                  <a:pt x="86608" y="235099"/>
                  <a:pt x="88900" y="215166"/>
                  <a:pt x="88900" y="195024"/>
                </a:cubicBezTo>
                <a:lnTo>
                  <a:pt x="88900" y="177731"/>
                </a:lnTo>
                <a:cubicBezTo>
                  <a:pt x="88900" y="158839"/>
                  <a:pt x="94804" y="141337"/>
                  <a:pt x="104805" y="126961"/>
                </a:cubicBezTo>
                <a:cubicBezTo>
                  <a:pt x="109805" y="119737"/>
                  <a:pt x="110360" y="109875"/>
                  <a:pt x="104666" y="103207"/>
                </a:cubicBezTo>
                <a:close/>
                <a:moveTo>
                  <a:pt x="177800" y="111125"/>
                </a:moveTo>
                <a:cubicBezTo>
                  <a:pt x="140990" y="111125"/>
                  <a:pt x="111125" y="140990"/>
                  <a:pt x="111125" y="177800"/>
                </a:cubicBezTo>
                <a:lnTo>
                  <a:pt x="111125" y="195094"/>
                </a:lnTo>
                <a:cubicBezTo>
                  <a:pt x="111125" y="220028"/>
                  <a:pt x="107930" y="244753"/>
                  <a:pt x="101540" y="268784"/>
                </a:cubicBezTo>
                <a:cubicBezTo>
                  <a:pt x="98901" y="278715"/>
                  <a:pt x="106194" y="288925"/>
                  <a:pt x="116473" y="288925"/>
                </a:cubicBezTo>
                <a:cubicBezTo>
                  <a:pt x="123071" y="288925"/>
                  <a:pt x="128905" y="284618"/>
                  <a:pt x="130641" y="278229"/>
                </a:cubicBezTo>
                <a:cubicBezTo>
                  <a:pt x="137933" y="251142"/>
                  <a:pt x="141684" y="223222"/>
                  <a:pt x="141684" y="195094"/>
                </a:cubicBezTo>
                <a:lnTo>
                  <a:pt x="141684" y="177800"/>
                </a:lnTo>
                <a:cubicBezTo>
                  <a:pt x="141684" y="157867"/>
                  <a:pt x="157867" y="141684"/>
                  <a:pt x="177800" y="141684"/>
                </a:cubicBezTo>
                <a:cubicBezTo>
                  <a:pt x="197733" y="141684"/>
                  <a:pt x="213916" y="157867"/>
                  <a:pt x="213916" y="177800"/>
                </a:cubicBezTo>
                <a:lnTo>
                  <a:pt x="213916" y="195094"/>
                </a:lnTo>
                <a:cubicBezTo>
                  <a:pt x="213916" y="220306"/>
                  <a:pt x="211485" y="245378"/>
                  <a:pt x="206692" y="270034"/>
                </a:cubicBezTo>
                <a:cubicBezTo>
                  <a:pt x="204817" y="279688"/>
                  <a:pt x="212040" y="288925"/>
                  <a:pt x="221833" y="288925"/>
                </a:cubicBezTo>
                <a:cubicBezTo>
                  <a:pt x="228918" y="288925"/>
                  <a:pt x="235029" y="284063"/>
                  <a:pt x="236418" y="277118"/>
                </a:cubicBezTo>
                <a:cubicBezTo>
                  <a:pt x="241766" y="250170"/>
                  <a:pt x="244475" y="222736"/>
                  <a:pt x="244475" y="195094"/>
                </a:cubicBezTo>
                <a:lnTo>
                  <a:pt x="244475" y="177800"/>
                </a:lnTo>
                <a:cubicBezTo>
                  <a:pt x="244475" y="140990"/>
                  <a:pt x="214610" y="111125"/>
                  <a:pt x="177800" y="111125"/>
                </a:cubicBezTo>
                <a:close/>
                <a:moveTo>
                  <a:pt x="194469" y="177800"/>
                </a:moveTo>
                <a:cubicBezTo>
                  <a:pt x="194469" y="168563"/>
                  <a:pt x="187037" y="161131"/>
                  <a:pt x="177800" y="161131"/>
                </a:cubicBezTo>
                <a:cubicBezTo>
                  <a:pt x="168563" y="161131"/>
                  <a:pt x="161131" y="168563"/>
                  <a:pt x="161131" y="177800"/>
                </a:cubicBezTo>
                <a:lnTo>
                  <a:pt x="161131" y="195094"/>
                </a:lnTo>
                <a:cubicBezTo>
                  <a:pt x="161131" y="236696"/>
                  <a:pt x="153491" y="277951"/>
                  <a:pt x="138560" y="316776"/>
                </a:cubicBezTo>
                <a:lnTo>
                  <a:pt x="134461" y="327402"/>
                </a:lnTo>
                <a:cubicBezTo>
                  <a:pt x="131128" y="336014"/>
                  <a:pt x="135434" y="345669"/>
                  <a:pt x="144046" y="348932"/>
                </a:cubicBezTo>
                <a:cubicBezTo>
                  <a:pt x="152658" y="352196"/>
                  <a:pt x="162312" y="347960"/>
                  <a:pt x="165576" y="339348"/>
                </a:cubicBezTo>
                <a:lnTo>
                  <a:pt x="169675" y="328722"/>
                </a:lnTo>
                <a:cubicBezTo>
                  <a:pt x="186065" y="286076"/>
                  <a:pt x="194469" y="240795"/>
                  <a:pt x="194469" y="195094"/>
                </a:cubicBezTo>
                <a:lnTo>
                  <a:pt x="194469" y="177800"/>
                </a:lnTo>
                <a:close/>
              </a:path>
            </a:pathLst>
          </a:cu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9220200" y="3784600"/>
            <a:ext cx="381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精细化设备类型管控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9220200" y="4114800"/>
            <a:ext cx="60706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精准识别并区分存储类、HID类、网卡类USB设备，针对不同类型外设实施差异化的权限管控策略。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8509000" y="4775200"/>
            <a:ext cx="6985000" cy="9652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Freeform 44"/>
          <p:cNvSpPr/>
          <p:nvPr/>
        </p:nvSpPr>
        <p:spPr>
          <a:xfrm>
            <a:off x="8710532" y="5049133"/>
            <a:ext cx="357268" cy="296774"/>
          </a:xfrm>
          <a:custGeom>
            <a:avLst/>
            <a:gdLst/>
            <a:ahLst/>
            <a:cxnLst/>
            <a:rect l="l" t="t" r="r" b="b"/>
            <a:pathLst>
              <a:path w="357268" h="296774">
                <a:moveTo>
                  <a:pt x="94596" y="5278"/>
                </a:moveTo>
                <a:cubicBezTo>
                  <a:pt x="102167" y="10557"/>
                  <a:pt x="103972" y="20975"/>
                  <a:pt x="98693" y="28476"/>
                </a:cubicBezTo>
                <a:lnTo>
                  <a:pt x="59800" y="84038"/>
                </a:lnTo>
                <a:cubicBezTo>
                  <a:pt x="56952" y="88067"/>
                  <a:pt x="52507" y="90636"/>
                  <a:pt x="47577" y="91054"/>
                </a:cubicBezTo>
                <a:cubicBezTo>
                  <a:pt x="42645" y="91470"/>
                  <a:pt x="37784" y="89803"/>
                  <a:pt x="34311" y="86330"/>
                </a:cubicBezTo>
                <a:lnTo>
                  <a:pt x="6530" y="58549"/>
                </a:lnTo>
                <a:cubicBezTo>
                  <a:pt x="72" y="52020"/>
                  <a:pt x="72" y="41464"/>
                  <a:pt x="6530" y="34935"/>
                </a:cubicBezTo>
                <a:cubicBezTo>
                  <a:pt x="12989" y="28406"/>
                  <a:pt x="23615" y="28476"/>
                  <a:pt x="30144" y="34935"/>
                </a:cubicBezTo>
                <a:lnTo>
                  <a:pt x="43896" y="48686"/>
                </a:lnTo>
                <a:lnTo>
                  <a:pt x="71399" y="9376"/>
                </a:lnTo>
                <a:cubicBezTo>
                  <a:pt x="76677" y="1806"/>
                  <a:pt x="87095" y="0"/>
                  <a:pt x="94596" y="5278"/>
                </a:cubicBezTo>
                <a:close/>
                <a:moveTo>
                  <a:pt x="94596" y="116403"/>
                </a:moveTo>
                <a:cubicBezTo>
                  <a:pt x="102167" y="121682"/>
                  <a:pt x="103972" y="132100"/>
                  <a:pt x="98693" y="139601"/>
                </a:cubicBezTo>
                <a:lnTo>
                  <a:pt x="59800" y="195163"/>
                </a:lnTo>
                <a:cubicBezTo>
                  <a:pt x="56952" y="199192"/>
                  <a:pt x="52507" y="201761"/>
                  <a:pt x="47577" y="202179"/>
                </a:cubicBezTo>
                <a:cubicBezTo>
                  <a:pt x="42645" y="202595"/>
                  <a:pt x="37784" y="200928"/>
                  <a:pt x="34311" y="197455"/>
                </a:cubicBezTo>
                <a:lnTo>
                  <a:pt x="6530" y="169674"/>
                </a:lnTo>
                <a:cubicBezTo>
                  <a:pt x="0" y="163145"/>
                  <a:pt x="0" y="152589"/>
                  <a:pt x="6530" y="146128"/>
                </a:cubicBezTo>
                <a:cubicBezTo>
                  <a:pt x="13059" y="139670"/>
                  <a:pt x="23615" y="139601"/>
                  <a:pt x="30074" y="146128"/>
                </a:cubicBezTo>
                <a:lnTo>
                  <a:pt x="43826" y="159881"/>
                </a:lnTo>
                <a:lnTo>
                  <a:pt x="71329" y="120571"/>
                </a:lnTo>
                <a:cubicBezTo>
                  <a:pt x="76608" y="113000"/>
                  <a:pt x="87026" y="111195"/>
                  <a:pt x="94527" y="116473"/>
                </a:cubicBezTo>
                <a:close/>
                <a:moveTo>
                  <a:pt x="157243" y="46742"/>
                </a:moveTo>
                <a:cubicBezTo>
                  <a:pt x="157243" y="34448"/>
                  <a:pt x="167174" y="24517"/>
                  <a:pt x="179468" y="24517"/>
                </a:cubicBezTo>
                <a:lnTo>
                  <a:pt x="335043" y="24517"/>
                </a:lnTo>
                <a:cubicBezTo>
                  <a:pt x="347337" y="24517"/>
                  <a:pt x="357268" y="34448"/>
                  <a:pt x="357268" y="46742"/>
                </a:cubicBezTo>
                <a:cubicBezTo>
                  <a:pt x="357268" y="59036"/>
                  <a:pt x="347337" y="68967"/>
                  <a:pt x="335043" y="68967"/>
                </a:cubicBezTo>
                <a:lnTo>
                  <a:pt x="179468" y="68967"/>
                </a:lnTo>
                <a:cubicBezTo>
                  <a:pt x="167174" y="68967"/>
                  <a:pt x="157243" y="59036"/>
                  <a:pt x="157243" y="46742"/>
                </a:cubicBezTo>
                <a:close/>
                <a:moveTo>
                  <a:pt x="157243" y="157867"/>
                </a:moveTo>
                <a:cubicBezTo>
                  <a:pt x="157243" y="145573"/>
                  <a:pt x="167174" y="135642"/>
                  <a:pt x="179468" y="135642"/>
                </a:cubicBezTo>
                <a:lnTo>
                  <a:pt x="335043" y="135642"/>
                </a:lnTo>
                <a:cubicBezTo>
                  <a:pt x="347337" y="135642"/>
                  <a:pt x="357268" y="145573"/>
                  <a:pt x="357268" y="157867"/>
                </a:cubicBezTo>
                <a:cubicBezTo>
                  <a:pt x="357268" y="170161"/>
                  <a:pt x="347337" y="180092"/>
                  <a:pt x="335043" y="180092"/>
                </a:cubicBezTo>
                <a:lnTo>
                  <a:pt x="179468" y="180092"/>
                </a:lnTo>
                <a:cubicBezTo>
                  <a:pt x="167174" y="180092"/>
                  <a:pt x="157243" y="170161"/>
                  <a:pt x="157243" y="157867"/>
                </a:cubicBezTo>
                <a:close/>
                <a:moveTo>
                  <a:pt x="112793" y="268992"/>
                </a:moveTo>
                <a:cubicBezTo>
                  <a:pt x="112793" y="256698"/>
                  <a:pt x="122724" y="246767"/>
                  <a:pt x="135018" y="246767"/>
                </a:cubicBezTo>
                <a:lnTo>
                  <a:pt x="335043" y="246767"/>
                </a:lnTo>
                <a:cubicBezTo>
                  <a:pt x="347337" y="246767"/>
                  <a:pt x="357268" y="256698"/>
                  <a:pt x="357268" y="268992"/>
                </a:cubicBezTo>
                <a:cubicBezTo>
                  <a:pt x="357268" y="281286"/>
                  <a:pt x="347337" y="291217"/>
                  <a:pt x="335043" y="291217"/>
                </a:cubicBezTo>
                <a:lnTo>
                  <a:pt x="135018" y="291217"/>
                </a:lnTo>
                <a:cubicBezTo>
                  <a:pt x="122724" y="291217"/>
                  <a:pt x="112793" y="281286"/>
                  <a:pt x="112793" y="268992"/>
                </a:cubicBezTo>
                <a:close/>
                <a:moveTo>
                  <a:pt x="46118" y="241211"/>
                </a:moveTo>
                <a:cubicBezTo>
                  <a:pt x="61451" y="241211"/>
                  <a:pt x="73899" y="253659"/>
                  <a:pt x="73899" y="268992"/>
                </a:cubicBezTo>
                <a:cubicBezTo>
                  <a:pt x="73899" y="284325"/>
                  <a:pt x="61451" y="296773"/>
                  <a:pt x="46118" y="296773"/>
                </a:cubicBezTo>
                <a:cubicBezTo>
                  <a:pt x="30785" y="296773"/>
                  <a:pt x="18337" y="284325"/>
                  <a:pt x="18337" y="268992"/>
                </a:cubicBezTo>
                <a:cubicBezTo>
                  <a:pt x="18337" y="253659"/>
                  <a:pt x="30785" y="241211"/>
                  <a:pt x="46118" y="241211"/>
                </a:cubicBezTo>
                <a:close/>
              </a:path>
            </a:pathLst>
          </a:cu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45"/>
          <p:cNvSpPr/>
          <p:nvPr/>
        </p:nvSpPr>
        <p:spPr>
          <a:xfrm>
            <a:off x="9220200" y="4876800"/>
            <a:ext cx="381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全链路文件拷贝审计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9220200" y="5207000"/>
            <a:ext cx="60706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自动记录所有通过USB接口进行的文件读写、拷贝、删除操作，留存完整日志，确保数据流转可追溯。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8509000" y="5867400"/>
            <a:ext cx="6985000" cy="965200"/>
          </a:xfrm>
          <a:prstGeom prst="roundRect">
            <a:avLst>
              <a:gd name="adj" fmla="val 0"/>
            </a:avLst>
          </a:prstGeom>
          <a:solidFill>
            <a:srgbClr val="C45D3C">
              <a:alpha val="94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Freeform 48"/>
          <p:cNvSpPr/>
          <p:nvPr/>
        </p:nvSpPr>
        <p:spPr>
          <a:xfrm>
            <a:off x="8712200" y="6121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55033" y="286494"/>
                </a:moveTo>
                <a:lnTo>
                  <a:pt x="69106" y="100567"/>
                </a:lnTo>
                <a:cubicBezTo>
                  <a:pt x="53548" y="122376"/>
                  <a:pt x="44450" y="149046"/>
                  <a:pt x="44450" y="177800"/>
                </a:cubicBezTo>
                <a:cubicBezTo>
                  <a:pt x="44450" y="251421"/>
                  <a:pt x="104179" y="311150"/>
                  <a:pt x="177800" y="311150"/>
                </a:cubicBezTo>
                <a:cubicBezTo>
                  <a:pt x="206623" y="311150"/>
                  <a:pt x="233293" y="302052"/>
                  <a:pt x="255033" y="286494"/>
                </a:cubicBezTo>
                <a:close/>
                <a:moveTo>
                  <a:pt x="286494" y="255033"/>
                </a:moveTo>
                <a:cubicBezTo>
                  <a:pt x="302052" y="233224"/>
                  <a:pt x="311150" y="206554"/>
                  <a:pt x="311150" y="177800"/>
                </a:cubicBezTo>
                <a:cubicBezTo>
                  <a:pt x="311150" y="104179"/>
                  <a:pt x="251421" y="44450"/>
                  <a:pt x="177800" y="44450"/>
                </a:cubicBezTo>
                <a:cubicBezTo>
                  <a:pt x="148977" y="44450"/>
                  <a:pt x="122307" y="53548"/>
                  <a:pt x="100567" y="69106"/>
                </a:cubicBezTo>
                <a:lnTo>
                  <a:pt x="286494" y="255033"/>
                </a:ln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</a:path>
            </a:pathLst>
          </a:custGeom>
          <a:solidFill>
            <a:srgbClr val="C45D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AutoShape 49"/>
          <p:cNvSpPr/>
          <p:nvPr/>
        </p:nvSpPr>
        <p:spPr>
          <a:xfrm>
            <a:off x="9220200" y="5969000"/>
            <a:ext cx="381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主动式BadUSB攻击防御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9220200" y="6299200"/>
            <a:ext cx="60706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实时监测伪装成键盘的恶意USB设备，识别异常数据注入行为，自动阻断攻击并触发系统安全告警。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8509000" y="6959600"/>
            <a:ext cx="6985000" cy="965200"/>
          </a:xfrm>
          <a:prstGeom prst="roundRect">
            <a:avLst>
              <a:gd name="adj" fmla="val 0"/>
            </a:avLst>
          </a:prstGeom>
          <a:solidFill>
            <a:srgbClr val="C45D3C">
              <a:alpha val="94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2" name="Freeform 52"/>
          <p:cNvSpPr/>
          <p:nvPr/>
        </p:nvSpPr>
        <p:spPr>
          <a:xfrm>
            <a:off x="8723312" y="7213600"/>
            <a:ext cx="333513" cy="355044"/>
          </a:xfrm>
          <a:custGeom>
            <a:avLst/>
            <a:gdLst/>
            <a:ahLst/>
            <a:cxnLst/>
            <a:rect l="l" t="t" r="r" b="b"/>
            <a:pathLst>
              <a:path w="333513" h="355044">
                <a:moveTo>
                  <a:pt x="166688" y="0"/>
                </a:moveTo>
                <a:cubicBezTo>
                  <a:pt x="169883" y="0"/>
                  <a:pt x="173077" y="695"/>
                  <a:pt x="175995" y="2014"/>
                </a:cubicBezTo>
                <a:lnTo>
                  <a:pt x="306844" y="57507"/>
                </a:lnTo>
                <a:cubicBezTo>
                  <a:pt x="322125" y="63966"/>
                  <a:pt x="333514" y="79038"/>
                  <a:pt x="333445" y="97234"/>
                </a:cubicBezTo>
                <a:cubicBezTo>
                  <a:pt x="333097" y="166133"/>
                  <a:pt x="304761" y="292189"/>
                  <a:pt x="185093" y="349487"/>
                </a:cubicBezTo>
                <a:cubicBezTo>
                  <a:pt x="173494" y="355044"/>
                  <a:pt x="160020" y="355044"/>
                  <a:pt x="148422" y="349487"/>
                </a:cubicBezTo>
                <a:cubicBezTo>
                  <a:pt x="28685" y="292189"/>
                  <a:pt x="417" y="166133"/>
                  <a:pt x="70" y="97234"/>
                </a:cubicBezTo>
                <a:cubicBezTo>
                  <a:pt x="0" y="79038"/>
                  <a:pt x="11391" y="63966"/>
                  <a:pt x="26670" y="57507"/>
                </a:cubicBezTo>
                <a:lnTo>
                  <a:pt x="157451" y="2014"/>
                </a:lnTo>
                <a:cubicBezTo>
                  <a:pt x="160368" y="695"/>
                  <a:pt x="163493" y="0"/>
                  <a:pt x="166688" y="0"/>
                </a:cubicBezTo>
                <a:close/>
                <a:moveTo>
                  <a:pt x="166688" y="46394"/>
                </a:moveTo>
                <a:lnTo>
                  <a:pt x="166688" y="308997"/>
                </a:lnTo>
                <a:cubicBezTo>
                  <a:pt x="262534" y="262602"/>
                  <a:pt x="288299" y="159812"/>
                  <a:pt x="288926" y="98276"/>
                </a:cubicBezTo>
                <a:lnTo>
                  <a:pt x="166688" y="46464"/>
                </a:lnTo>
                <a:lnTo>
                  <a:pt x="166688" y="46464"/>
                </a:lnTo>
                <a:close/>
              </a:path>
            </a:pathLst>
          </a:custGeom>
          <a:solidFill>
            <a:srgbClr val="C45D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3" name="AutoShape 53"/>
          <p:cNvSpPr/>
          <p:nvPr/>
        </p:nvSpPr>
        <p:spPr>
          <a:xfrm>
            <a:off x="9220200" y="7061200"/>
            <a:ext cx="381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违规外设强制拦截与告警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9220200" y="7391400"/>
            <a:ext cx="60706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对未授权或异常USB设备，系统自动禁用驱动挂载，即时弹窗告警并同步记录违规日志至审计中心。</a:t>
            </a:r>
            <a:endParaRPr lang="en-US" sz="1100"/>
          </a:p>
        </p:txBody>
      </p:sp>
      <p:sp>
        <p:nvSpPr>
          <p:cNvPr id="55" name="AutoShape 55"/>
          <p:cNvSpPr/>
          <p:nvPr/>
        </p:nvSpPr>
        <p:spPr>
          <a:xfrm>
            <a:off x="15240000" y="8763000"/>
            <a:ext cx="508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254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 项目背景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302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 需求分析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 系统架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398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 安全机制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446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 分工计划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" y="711200"/>
            <a:ext cx="50800" cy="4064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12800" y="711200"/>
            <a:ext cx="10160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系统总体架构（Windows平台）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" y="1168400"/>
            <a:ext cx="1143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四层分层架构设计：展示层 / 业务逻辑层 / 加密内核层 / 数据存储层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09600" y="1651000"/>
            <a:ext cx="15036800" cy="1397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1727200"/>
            <a:ext cx="381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展示层 (Presentation Layer)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2133600"/>
            <a:ext cx="4572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2133600"/>
            <a:ext cx="457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50800" rIns="1016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GUI管理控制台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可视化配置与监控界面</a:t>
            </a:r>
            <a:endParaRPr lang="en-US" sz="1100" b="0" i="0" u="none" strike="noStrike">
              <a:solidFill>
                <a:srgbClr val="FFFFFF">
                  <a:alpha val="90196"/>
                </a:srgbClr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5588000" y="2133600"/>
            <a:ext cx="4572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588000" y="2133600"/>
            <a:ext cx="457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50800" rIns="1016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系统托盘驻留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后台运行与快速操作入口</a:t>
            </a:r>
            <a:endParaRPr lang="en-US" sz="1100" b="0" i="0" u="none" strike="noStrike">
              <a:solidFill>
                <a:srgbClr val="FFFFFF">
                  <a:alpha val="90196"/>
                </a:srgbClr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0414000" y="2133600"/>
            <a:ext cx="4572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414000" y="2133600"/>
            <a:ext cx="457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50800" rIns="1016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CLI命令行工具集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自动化运维与批量操作支持</a:t>
            </a:r>
            <a:endParaRPr lang="en-US" sz="1100" b="0" i="0" u="none" strike="noStrike">
              <a:solidFill>
                <a:srgbClr val="FFFFFF">
                  <a:alpha val="90196"/>
                </a:srgbClr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051800" y="3073400"/>
            <a:ext cx="152400" cy="203200"/>
          </a:xfrm>
          <a:prstGeom prst="triangle">
            <a:avLst>
              <a:gd name="adj" fmla="val 50000"/>
            </a:avLst>
          </a:prstGeom>
          <a:solidFill>
            <a:srgbClr val="96A0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09600" y="3302000"/>
            <a:ext cx="15036800" cy="1524000"/>
          </a:xfrm>
          <a:prstGeom prst="roundRect">
            <a:avLst>
              <a:gd name="adj" fmla="val 0"/>
            </a:avLst>
          </a:prstGeom>
          <a:solidFill>
            <a:srgbClr val="29557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" y="3403600"/>
            <a:ext cx="508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业务逻辑层 (Business Logic Layer)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3810000"/>
            <a:ext cx="4572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62000" y="3810000"/>
            <a:ext cx="457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76200" rIns="101600" bIns="762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用户认证与权限管理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身份鉴权 / RBAC细粒度权限控制</a:t>
            </a:r>
            <a:endParaRPr lang="en-US" sz="1100" b="0" i="0" u="none" strike="noStrike">
              <a:solidFill>
                <a:srgbClr val="FFFFFF">
                  <a:alpha val="90196"/>
                </a:srgbClr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5588000" y="3810000"/>
            <a:ext cx="4572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5588000" y="3810000"/>
            <a:ext cx="457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76200" rIns="101600" bIns="762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密钥管理与USB管控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密钥全生命周期管理 / 设备白名单策略</a:t>
            </a:r>
            <a:endParaRPr lang="en-US" sz="1100" b="0" i="0" u="none" strike="noStrike">
              <a:solidFill>
                <a:srgbClr val="FFFFFF">
                  <a:alpha val="90196"/>
                </a:srgbClr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10414000" y="3810000"/>
            <a:ext cx="4572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10414000" y="3810000"/>
            <a:ext cx="457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76200" rIns="101600" bIns="762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统一服务调度总线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Service Bus / 模块间通信与事件分发</a:t>
            </a:r>
            <a:endParaRPr lang="en-US" sz="1100" b="0" i="0" u="none" strike="noStrike">
              <a:solidFill>
                <a:srgbClr val="FFFFFF">
                  <a:alpha val="90196"/>
                </a:srgbClr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8051800" y="4851400"/>
            <a:ext cx="152400" cy="203200"/>
          </a:xfrm>
          <a:prstGeom prst="triangle">
            <a:avLst>
              <a:gd name="adj" fmla="val 50000"/>
            </a:avLst>
          </a:prstGeom>
          <a:solidFill>
            <a:srgbClr val="96A0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09600" y="5080000"/>
            <a:ext cx="15036800" cy="13970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762000" y="5181600"/>
            <a:ext cx="508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加密内核层 (Crypto &amp; Driver Layer)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62000" y="5588000"/>
            <a:ext cx="4572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762000" y="5588000"/>
            <a:ext cx="457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50800" rIns="1016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Dokany文件系统过滤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IRP读写拦截 / 文件头解析与写入</a:t>
            </a:r>
            <a:endParaRPr lang="en-US" sz="1100" b="0" i="0" u="none" strike="noStrike">
              <a:solidFill>
                <a:srgbClr val="FFFFFF">
                  <a:alpha val="90196"/>
                </a:srgbClr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5588000" y="5588000"/>
            <a:ext cx="4572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5588000" y="5588000"/>
            <a:ext cx="457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50800" rIns="1016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高性能加密引擎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AES-256-GCM / RSA-2048 / PBKDF2</a:t>
            </a:r>
            <a:endParaRPr lang="en-US" sz="1100" b="0" i="0" u="none" strike="noStrike">
              <a:solidFill>
                <a:srgbClr val="FFFFFF">
                  <a:alpha val="90196"/>
                </a:srgbClr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10414000" y="5588000"/>
            <a:ext cx="4572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10414000" y="5588000"/>
            <a:ext cx="457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50800" rIns="1016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USB设备监控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SetupAPI + WM_DEVICECHANGE 事件监听</a:t>
            </a:r>
            <a:endParaRPr lang="en-US" sz="1100" b="0" i="0" u="none" strike="noStrike">
              <a:solidFill>
                <a:srgbClr val="FFFFFF">
                  <a:alpha val="90196"/>
                </a:srgbClr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8051800" y="6502400"/>
            <a:ext cx="152400" cy="203200"/>
          </a:xfrm>
          <a:prstGeom prst="triangle">
            <a:avLst>
              <a:gd name="adj" fmla="val 50000"/>
            </a:avLst>
          </a:prstGeom>
          <a:solidFill>
            <a:srgbClr val="96A0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609600" y="6731000"/>
            <a:ext cx="15036800" cy="1143000"/>
          </a:xfrm>
          <a:prstGeom prst="roundRect">
            <a:avLst>
              <a:gd name="adj" fmla="val 0"/>
            </a:avLst>
          </a:prstGeom>
          <a:solidFill>
            <a:srgbClr val="0F23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762000" y="6832600"/>
            <a:ext cx="508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数据存储层 (Data Storage Layer)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762000" y="7188200"/>
            <a:ext cx="4572000" cy="5588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/>
        </p:nvSpPr>
        <p:spPr>
          <a:xfrm>
            <a:off x="762000" y="7188200"/>
            <a:ext cx="4572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76200" tIns="50800" rIns="762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加密文件存储</a:t>
            </a:r>
            <a:r>
              <a:rPr lang="en-US" sz="1100" b="0" i="0" u="none" strike="noStrike">
                <a:solidFill>
                  <a:srgbClr val="FFFFFF">
                    <a:alpha val="80000"/>
                  </a:srgbClr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(密文+文件头)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5588000" y="7188200"/>
            <a:ext cx="4572000" cy="5588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4" name="AutoShape 44"/>
          <p:cNvSpPr/>
          <p:nvPr/>
        </p:nvSpPr>
        <p:spPr>
          <a:xfrm>
            <a:off x="5588000" y="7188200"/>
            <a:ext cx="4572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76200" tIns="50800" rIns="762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文件系统支持</a:t>
            </a:r>
            <a:r>
              <a:rPr lang="en-US" sz="1100" b="0" i="0" u="none" strike="noStrike">
                <a:solidFill>
                  <a:srgbClr val="FFFFFF">
                    <a:alpha val="80000"/>
                  </a:srgbClr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(NTFS / ReFS)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10414000" y="7188200"/>
            <a:ext cx="4572000" cy="5588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6" name="AutoShape 46"/>
          <p:cNvSpPr/>
          <p:nvPr/>
        </p:nvSpPr>
        <p:spPr>
          <a:xfrm>
            <a:off x="10414000" y="7188200"/>
            <a:ext cx="4572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76200" tIns="50800" rIns="762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数据库与日志</a:t>
            </a:r>
            <a:r>
              <a:rPr lang="en-US" sz="1100" b="0" i="0" u="none" strike="noStrike">
                <a:solidFill>
                  <a:srgbClr val="FFFFFF">
                    <a:alpha val="80000"/>
                  </a:srgbClr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(密钥库/配置/审计日志)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15240000" y="8128000"/>
            <a:ext cx="508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254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 项目背景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302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 需求分析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 系统架构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398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 安全机制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446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 分工计划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" y="711200"/>
            <a:ext cx="50800" cy="4064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12800" y="711200"/>
            <a:ext cx="10160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8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数据流设计：文件写入加密流程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09600" y="1320800"/>
            <a:ext cx="7493000" cy="6832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63600" y="1524000"/>
            <a:ext cx="1270000" cy="355600"/>
          </a:xfrm>
          <a:prstGeom prst="roundRect">
            <a:avLst>
              <a:gd name="adj" fmla="val 0"/>
            </a:avLst>
          </a:prstGeom>
          <a:solidFill>
            <a:srgbClr val="C45D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63600" y="1524000"/>
            <a:ext cx="1270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写入流程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63600" y="2082800"/>
            <a:ext cx="6985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65200" y="2184400"/>
            <a:ext cx="406400" cy="406400"/>
          </a:xfrm>
          <a:prstGeom prst="ellipse">
            <a:avLst/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65200" y="2184400"/>
            <a:ext cx="406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498600" y="2197100"/>
            <a:ext cx="622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应用发起请求：</a:t>
            </a:r>
            <a:r>
              <a:rPr lang="en-US" sz="15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用户或业务应用调用系统 write() 接口发起文件写入操作。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5197881">
            <a:off x="4146459" y="2787743"/>
            <a:ext cx="43198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64748B">
                <a:alpha val="100000"/>
              </a:srgbClr>
            </a:solidFill>
            <a:prstDash val="solid"/>
            <a:miter lim="10000000"/>
            <a:headEnd type="none" w="med" len="med"/>
            <a:tailEnd type="arrow" w="med" len="med"/>
          </a:ln>
        </p:spPr>
      </p:cxnSp>
      <p:sp>
        <p:nvSpPr>
          <p:cNvPr id="19" name="AutoShape 19"/>
          <p:cNvSpPr/>
          <p:nvPr/>
        </p:nvSpPr>
        <p:spPr>
          <a:xfrm>
            <a:off x="863600" y="2895600"/>
            <a:ext cx="6985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65200" y="2997200"/>
            <a:ext cx="406400" cy="406400"/>
          </a:xfrm>
          <a:prstGeom prst="ellipse">
            <a:avLst/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65200" y="2997200"/>
            <a:ext cx="406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498600" y="3009900"/>
            <a:ext cx="6223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I/O拦截与鉴权：</a:t>
            </a: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Dokany用户态文件系统拦截Windows IRP（I/O Request Packet）请求，对接RBAC服务验证用户写入权限。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197881">
            <a:off x="4146459" y="3600543"/>
            <a:ext cx="43198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64748B">
                <a:alpha val="100000"/>
              </a:srgbClr>
            </a:solidFill>
            <a:prstDash val="solid"/>
            <a:miter lim="10000000"/>
            <a:headEnd type="none" w="med" len="med"/>
            <a:tailEnd type="arrow" w="med" len="med"/>
          </a:ln>
        </p:spPr>
      </p:cxnSp>
      <p:sp>
        <p:nvSpPr>
          <p:cNvPr id="24" name="AutoShape 24"/>
          <p:cNvSpPr/>
          <p:nvPr/>
        </p:nvSpPr>
        <p:spPr>
          <a:xfrm>
            <a:off x="863600" y="3708400"/>
            <a:ext cx="6985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65200" y="3810000"/>
            <a:ext cx="406400" cy="406400"/>
          </a:xfrm>
          <a:prstGeom prst="ellipse">
            <a:avLst/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65200" y="3810000"/>
            <a:ext cx="406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498600" y="3822700"/>
            <a:ext cx="622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FEK密钥处理：</a:t>
            </a:r>
            <a:r>
              <a:rPr lang="en-US" sz="15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新建文件自动生成随机FEK；已有文件则通过KEK解密存储的EFEK获取。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5197881">
            <a:off x="4146459" y="4413343"/>
            <a:ext cx="43198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64748B">
                <a:alpha val="100000"/>
              </a:srgbClr>
            </a:solidFill>
            <a:prstDash val="solid"/>
            <a:miter lim="10000000"/>
            <a:headEnd type="none" w="med" len="med"/>
            <a:tailEnd type="arrow" w="med" len="med"/>
          </a:ln>
        </p:spPr>
      </p:cxnSp>
      <p:sp>
        <p:nvSpPr>
          <p:cNvPr id="29" name="AutoShape 29"/>
          <p:cNvSpPr/>
          <p:nvPr/>
        </p:nvSpPr>
        <p:spPr>
          <a:xfrm>
            <a:off x="863600" y="4521200"/>
            <a:ext cx="6985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965200" y="4622800"/>
            <a:ext cx="406400" cy="406400"/>
          </a:xfrm>
          <a:prstGeom prst="ellipse">
            <a:avLst/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965200" y="4622800"/>
            <a:ext cx="406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498600" y="4635500"/>
            <a:ext cx="622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加密与完整性认证：</a:t>
            </a:r>
            <a:r>
              <a:rPr lang="en-US" sz="15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使用AES-256-GCM算法加密数据，同步生成认证标签保障数据未篡改。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5197881">
            <a:off x="4146459" y="5226143"/>
            <a:ext cx="43198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64748B">
                <a:alpha val="100000"/>
              </a:srgbClr>
            </a:solidFill>
            <a:prstDash val="solid"/>
            <a:miter lim="10000000"/>
            <a:headEnd type="none" w="med" len="med"/>
            <a:tailEnd type="arrow" w="med" len="med"/>
          </a:ln>
        </p:spPr>
      </p:cxnSp>
      <p:sp>
        <p:nvSpPr>
          <p:cNvPr id="34" name="AutoShape 34"/>
          <p:cNvSpPr/>
          <p:nvPr/>
        </p:nvSpPr>
        <p:spPr>
          <a:xfrm>
            <a:off x="863600" y="5334000"/>
            <a:ext cx="6985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965200" y="5435600"/>
            <a:ext cx="406400" cy="406400"/>
          </a:xfrm>
          <a:prstGeom prst="ellipse">
            <a:avLst/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965200" y="5435600"/>
            <a:ext cx="406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1498600" y="5448300"/>
            <a:ext cx="622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数据包封装：</a:t>
            </a:r>
            <a:r>
              <a:rPr lang="en-US" sz="15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将初始化向量Nonce、GCM认证标签与密文数据按协议格式打包整合。</a:t>
            </a:r>
            <a:endParaRPr lang="en-US" sz="1100"/>
          </a:p>
        </p:txBody>
      </p:sp>
      <p:cxnSp>
        <p:nvCxnSpPr>
          <p:cNvPr id="38" name="Connector 38"/>
          <p:cNvCxnSpPr/>
          <p:nvPr/>
        </p:nvCxnSpPr>
        <p:spPr>
          <a:xfrm rot="5197881">
            <a:off x="4146459" y="6038943"/>
            <a:ext cx="43198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64748B">
                <a:alpha val="100000"/>
              </a:srgbClr>
            </a:solidFill>
            <a:prstDash val="solid"/>
            <a:miter lim="10000000"/>
            <a:headEnd type="none" w="med" len="med"/>
            <a:tailEnd type="arrow" w="med" len="med"/>
          </a:ln>
        </p:spPr>
      </p:cxnSp>
      <p:sp>
        <p:nvSpPr>
          <p:cNvPr id="39" name="AutoShape 39"/>
          <p:cNvSpPr/>
          <p:nvPr/>
        </p:nvSpPr>
        <p:spPr>
          <a:xfrm>
            <a:off x="863600" y="6146800"/>
            <a:ext cx="6985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965200" y="6248400"/>
            <a:ext cx="406400" cy="406400"/>
          </a:xfrm>
          <a:prstGeom prst="ellipse">
            <a:avLst/>
          </a:prstGeom>
          <a:solidFill>
            <a:srgbClr val="C45D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965200" y="6248400"/>
            <a:ext cx="406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1498600" y="6261100"/>
            <a:ext cx="622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密文下发落盘：</a:t>
            </a:r>
            <a:r>
              <a:rPr lang="en-US" sz="15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将完整加密数据包下发至底层文件系统，完成物理存储写入。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8255000" y="1320800"/>
            <a:ext cx="7493000" cy="6832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44"/>
          <p:cNvSpPr/>
          <p:nvPr/>
        </p:nvSpPr>
        <p:spPr>
          <a:xfrm>
            <a:off x="8509000" y="1524000"/>
            <a:ext cx="1524000" cy="355600"/>
          </a:xfrm>
          <a:prstGeom prst="roundRect">
            <a:avLst>
              <a:gd name="adj" fmla="val 0"/>
            </a:avLst>
          </a:prstGeom>
          <a:solidFill>
            <a:srgbClr val="3A5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45"/>
          <p:cNvSpPr/>
          <p:nvPr/>
        </p:nvSpPr>
        <p:spPr>
          <a:xfrm>
            <a:off x="8509000" y="1524000"/>
            <a:ext cx="1524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核心安全保障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8509000" y="2082800"/>
            <a:ext cx="6985000" cy="8636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AutoShape 47"/>
          <p:cNvSpPr/>
          <p:nvPr/>
        </p:nvSpPr>
        <p:spPr>
          <a:xfrm>
            <a:off x="8610600" y="2184400"/>
            <a:ext cx="406400" cy="406400"/>
          </a:xfrm>
          <a:prstGeom prst="ellipse">
            <a:avLst/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48"/>
          <p:cNvSpPr/>
          <p:nvPr/>
        </p:nvSpPr>
        <p:spPr>
          <a:xfrm>
            <a:off x="8610600" y="2184400"/>
            <a:ext cx="406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9144000" y="2159000"/>
            <a:ext cx="62230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内存零残留保护：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明文数据与FEK密钥仅驻留内存，操作结束后立即执行内存清零操作，配合VirtualLock锁定防止数据交换至磁盘，彻底杜绝内存Dump窃取风险。</a:t>
            </a:r>
            <a:endParaRPr lang="en-US" sz="1100"/>
          </a:p>
        </p:txBody>
      </p:sp>
      <p:cxnSp>
        <p:nvCxnSpPr>
          <p:cNvPr id="50" name="Connector 50"/>
          <p:cNvCxnSpPr/>
          <p:nvPr/>
        </p:nvCxnSpPr>
        <p:spPr>
          <a:xfrm rot="5113810">
            <a:off x="11855323" y="3219582"/>
            <a:ext cx="30506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64748B">
                <a:alpha val="100000"/>
              </a:srgbClr>
            </a:solidFill>
            <a:prstDash val="solid"/>
            <a:miter lim="10000000"/>
            <a:headEnd type="none" w="med" len="med"/>
            <a:tailEnd type="arrow" w="med" len="med"/>
          </a:ln>
        </p:spPr>
      </p:cxnSp>
      <p:sp>
        <p:nvSpPr>
          <p:cNvPr id="51" name="AutoShape 51"/>
          <p:cNvSpPr/>
          <p:nvPr/>
        </p:nvSpPr>
        <p:spPr>
          <a:xfrm>
            <a:off x="8509000" y="3302000"/>
            <a:ext cx="6985000" cy="8636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2" name="AutoShape 52"/>
          <p:cNvSpPr/>
          <p:nvPr/>
        </p:nvSpPr>
        <p:spPr>
          <a:xfrm>
            <a:off x="8610600" y="3403600"/>
            <a:ext cx="406400" cy="406400"/>
          </a:xfrm>
          <a:prstGeom prst="ellipse">
            <a:avLst/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3" name="AutoShape 53"/>
          <p:cNvSpPr/>
          <p:nvPr/>
        </p:nvSpPr>
        <p:spPr>
          <a:xfrm>
            <a:off x="8610600" y="3403600"/>
            <a:ext cx="406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9144000" y="3378200"/>
            <a:ext cx="62230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GCM双重安全认证：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采用AES-256-GCM算法，在实现高强度加密的同时生成认证标签，确保数据在传输和存储过程中未被非法篡改，任何修改都会被即时检测并阻断。</a:t>
            </a:r>
            <a:endParaRPr lang="en-US" sz="1100"/>
          </a:p>
        </p:txBody>
      </p:sp>
      <p:cxnSp>
        <p:nvCxnSpPr>
          <p:cNvPr id="55" name="Connector 55"/>
          <p:cNvCxnSpPr/>
          <p:nvPr/>
        </p:nvCxnSpPr>
        <p:spPr>
          <a:xfrm rot="5113810">
            <a:off x="11855323" y="4438782"/>
            <a:ext cx="30506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64748B">
                <a:alpha val="100000"/>
              </a:srgbClr>
            </a:solidFill>
            <a:prstDash val="solid"/>
            <a:miter lim="10000000"/>
            <a:headEnd type="none" w="med" len="med"/>
            <a:tailEnd type="arrow" w="med" len="med"/>
          </a:ln>
        </p:spPr>
      </p:cxnSp>
      <p:sp>
        <p:nvSpPr>
          <p:cNvPr id="56" name="AutoShape 56"/>
          <p:cNvSpPr/>
          <p:nvPr/>
        </p:nvSpPr>
        <p:spPr>
          <a:xfrm>
            <a:off x="8509000" y="4521200"/>
            <a:ext cx="6985000" cy="8636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7" name="AutoShape 57"/>
          <p:cNvSpPr/>
          <p:nvPr/>
        </p:nvSpPr>
        <p:spPr>
          <a:xfrm>
            <a:off x="8610600" y="4622800"/>
            <a:ext cx="406400" cy="406400"/>
          </a:xfrm>
          <a:prstGeom prst="ellipse">
            <a:avLst/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8" name="AutoShape 58"/>
          <p:cNvSpPr/>
          <p:nvPr/>
        </p:nvSpPr>
        <p:spPr>
          <a:xfrm>
            <a:off x="8610600" y="4622800"/>
            <a:ext cx="406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</a:t>
            </a:r>
            <a:endParaRPr lang="en-US" sz="1100"/>
          </a:p>
        </p:txBody>
      </p:sp>
      <p:sp>
        <p:nvSpPr>
          <p:cNvPr id="59" name="AutoShape 59"/>
          <p:cNvSpPr/>
          <p:nvPr/>
        </p:nvSpPr>
        <p:spPr>
          <a:xfrm>
            <a:off x="9144000" y="4597400"/>
            <a:ext cx="62230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唯一Nonce与密钥隔离：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严格保证每次加密Nonce的唯一性，消除GCM模式重放攻击风险；同时采用密钥分层管理（KEK保护FEK），确保密钥体系的独立性与安全性。</a:t>
            </a:r>
            <a:endParaRPr lang="en-US" sz="1100"/>
          </a:p>
        </p:txBody>
      </p:sp>
      <p:cxnSp>
        <p:nvCxnSpPr>
          <p:cNvPr id="60" name="Connector 60"/>
          <p:cNvCxnSpPr/>
          <p:nvPr/>
        </p:nvCxnSpPr>
        <p:spPr>
          <a:xfrm rot="5113810">
            <a:off x="11855323" y="5657982"/>
            <a:ext cx="30506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64748B">
                <a:alpha val="100000"/>
              </a:srgbClr>
            </a:solidFill>
            <a:prstDash val="solid"/>
            <a:miter lim="10000000"/>
            <a:headEnd type="none" w="med" len="med"/>
            <a:tailEnd type="arrow" w="med" len="med"/>
          </a:ln>
        </p:spPr>
      </p:cxnSp>
      <p:sp>
        <p:nvSpPr>
          <p:cNvPr id="61" name="AutoShape 61"/>
          <p:cNvSpPr/>
          <p:nvPr/>
        </p:nvSpPr>
        <p:spPr>
          <a:xfrm>
            <a:off x="8509000" y="5791200"/>
            <a:ext cx="6985000" cy="965200"/>
          </a:xfrm>
          <a:prstGeom prst="roundRect">
            <a:avLst>
              <a:gd name="adj" fmla="val 0"/>
            </a:avLst>
          </a:prstGeom>
          <a:solidFill>
            <a:srgbClr val="3A5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2" name="AutoShape 62"/>
          <p:cNvSpPr/>
          <p:nvPr/>
        </p:nvSpPr>
        <p:spPr>
          <a:xfrm>
            <a:off x="8610600" y="6070600"/>
            <a:ext cx="406400" cy="406400"/>
          </a:xfrm>
          <a:prstGeom prst="ellipse">
            <a:avLst/>
          </a:prstGeom>
          <a:solidFill>
            <a:srgbClr val="C45D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3" name="AutoShape 63"/>
          <p:cNvSpPr/>
          <p:nvPr/>
        </p:nvSpPr>
        <p:spPr>
          <a:xfrm>
            <a:off x="8610600" y="6070600"/>
            <a:ext cx="406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 lang="en-US" sz="1100"/>
          </a:p>
        </p:txBody>
      </p:sp>
      <p:sp>
        <p:nvSpPr>
          <p:cNvPr id="64" name="AutoShape 64"/>
          <p:cNvSpPr/>
          <p:nvPr/>
        </p:nvSpPr>
        <p:spPr>
          <a:xfrm>
            <a:off x="9144000" y="5892800"/>
            <a:ext cx="6223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全链路透明无感：</a:t>
            </a:r>
            <a:r>
              <a:rPr lang="en-US" sz="1300" b="0" i="0" u="none" strike="noStrike">
                <a:solidFill>
                  <a:srgbClr val="EBEB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整个加密、认证、存储过程对上层应用完全透明，无需修改业务代码即可实现企业级文件安全管控，兼顾安全性与易用性。</a:t>
            </a:r>
            <a:endParaRPr lang="en-US" sz="1100"/>
          </a:p>
        </p:txBody>
      </p:sp>
      <p:sp>
        <p:nvSpPr>
          <p:cNvPr id="65" name="AutoShape 65"/>
          <p:cNvSpPr/>
          <p:nvPr/>
        </p:nvSpPr>
        <p:spPr>
          <a:xfrm>
            <a:off x="863600" y="8204200"/>
            <a:ext cx="146304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50000"/>
              </a:lnSpc>
              <a:defRPr/>
            </a:pPr>
            <a:r>
              <a:rPr lang="en-US" sz="15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设计核心：</a:t>
            </a:r>
            <a:r>
              <a:rPr lang="en-US" sz="15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内核态I/O透明拦截 ｜ AES-256-GCM国密级加密 ｜ 密钥分层管理体系 ｜ 内存明文零残留 ｜ 数据防篡改闭环</a:t>
            </a:r>
            <a:endParaRPr lang="en-US" sz="1100"/>
          </a:p>
        </p:txBody>
      </p:sp>
      <p:sp>
        <p:nvSpPr>
          <p:cNvPr id="66" name="AutoShape 66"/>
          <p:cNvSpPr/>
          <p:nvPr/>
        </p:nvSpPr>
        <p:spPr>
          <a:xfrm>
            <a:off x="15240000" y="8763000"/>
            <a:ext cx="508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254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 项目背景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302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 需求分析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 系统架构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446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 分工计划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" y="711200"/>
            <a:ext cx="50800" cy="4064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12800" y="711200"/>
            <a:ext cx="6350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8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文件透明加解密流程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09600" y="1320800"/>
            <a:ext cx="7493000" cy="6832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63600" y="1524000"/>
            <a:ext cx="1270000" cy="355600"/>
          </a:xfrm>
          <a:prstGeom prst="roundRect">
            <a:avLst>
              <a:gd name="adj" fmla="val 0"/>
            </a:avLst>
          </a:prstGeom>
          <a:solidFill>
            <a:srgbClr val="C45D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63600" y="1524000"/>
            <a:ext cx="1270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写入流程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63600" y="2082800"/>
            <a:ext cx="6985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65200" y="2184400"/>
            <a:ext cx="406400" cy="406400"/>
          </a:xfrm>
          <a:prstGeom prst="ellipse">
            <a:avLst/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65200" y="2184400"/>
            <a:ext cx="406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498600" y="2197100"/>
            <a:ext cx="622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应用发起写请求：</a:t>
            </a:r>
            <a:r>
              <a:rPr lang="en-US" sz="13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用户或应用发起写操作，Dokany用户态文件系统拦截Windows IRP请求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5197881">
            <a:off x="4146459" y="2787743"/>
            <a:ext cx="43198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64748B">
                <a:alpha val="100000"/>
              </a:srgbClr>
            </a:solidFill>
            <a:prstDash val="solid"/>
            <a:miter lim="10000000"/>
            <a:headEnd type="none" w="med" len="med"/>
            <a:tailEnd type="arrow" w="med" len="med"/>
          </a:ln>
        </p:spPr>
      </p:cxnSp>
      <p:sp>
        <p:nvSpPr>
          <p:cNvPr id="19" name="AutoShape 19"/>
          <p:cNvSpPr/>
          <p:nvPr/>
        </p:nvSpPr>
        <p:spPr>
          <a:xfrm>
            <a:off x="863600" y="2895600"/>
            <a:ext cx="6985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65200" y="2997200"/>
            <a:ext cx="406400" cy="406400"/>
          </a:xfrm>
          <a:prstGeom prst="ellipse">
            <a:avLst/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65200" y="2997200"/>
            <a:ext cx="406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498600" y="3009900"/>
            <a:ext cx="622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权限与身份校验：</a:t>
            </a:r>
            <a:r>
              <a:rPr lang="en-US" sz="15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对接RBAC服务验证权限，确认用户拥有文件写入操作资格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197881">
            <a:off x="4146459" y="3600543"/>
            <a:ext cx="43198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64748B">
                <a:alpha val="100000"/>
              </a:srgbClr>
            </a:solidFill>
            <a:prstDash val="solid"/>
            <a:miter lim="10000000"/>
            <a:headEnd type="none" w="med" len="med"/>
            <a:tailEnd type="arrow" w="med" len="med"/>
          </a:ln>
        </p:spPr>
      </p:cxnSp>
      <p:sp>
        <p:nvSpPr>
          <p:cNvPr id="24" name="AutoShape 24"/>
          <p:cNvSpPr/>
          <p:nvPr/>
        </p:nvSpPr>
        <p:spPr>
          <a:xfrm>
            <a:off x="863600" y="3708400"/>
            <a:ext cx="6985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65200" y="3810000"/>
            <a:ext cx="406400" cy="406400"/>
          </a:xfrm>
          <a:prstGeom prst="ellipse">
            <a:avLst/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65200" y="3810000"/>
            <a:ext cx="406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498600" y="3822700"/>
            <a:ext cx="622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密钥生成与封装：</a:t>
            </a:r>
            <a:r>
              <a:rPr lang="en-US" sz="15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随机生成文件加密密钥(FEK)，用用户公钥加密FEK生成EFEK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5197881">
            <a:off x="4146459" y="4413343"/>
            <a:ext cx="43198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64748B">
                <a:alpha val="100000"/>
              </a:srgbClr>
            </a:solidFill>
            <a:prstDash val="solid"/>
            <a:miter lim="10000000"/>
            <a:headEnd type="none" w="med" len="med"/>
            <a:tailEnd type="arrow" w="med" len="med"/>
          </a:ln>
        </p:spPr>
      </p:cxnSp>
      <p:sp>
        <p:nvSpPr>
          <p:cNvPr id="29" name="AutoShape 29"/>
          <p:cNvSpPr/>
          <p:nvPr/>
        </p:nvSpPr>
        <p:spPr>
          <a:xfrm>
            <a:off x="863600" y="4521200"/>
            <a:ext cx="6985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965200" y="4622800"/>
            <a:ext cx="406400" cy="406400"/>
          </a:xfrm>
          <a:prstGeom prst="ellipse">
            <a:avLst/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965200" y="4622800"/>
            <a:ext cx="406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498600" y="4635500"/>
            <a:ext cx="622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数据透明加密：</a:t>
            </a:r>
            <a:r>
              <a:rPr lang="en-US" sz="15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采用AES-256-GCM算法加密明文，生成包含Nonce与认证标签的密文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5197881">
            <a:off x="4146459" y="5226143"/>
            <a:ext cx="43198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64748B">
                <a:alpha val="100000"/>
              </a:srgbClr>
            </a:solidFill>
            <a:prstDash val="solid"/>
            <a:miter lim="10000000"/>
            <a:headEnd type="none" w="med" len="med"/>
            <a:tailEnd type="arrow" w="med" len="med"/>
          </a:ln>
        </p:spPr>
      </p:cxnSp>
      <p:sp>
        <p:nvSpPr>
          <p:cNvPr id="34" name="AutoShape 34"/>
          <p:cNvSpPr/>
          <p:nvPr/>
        </p:nvSpPr>
        <p:spPr>
          <a:xfrm>
            <a:off x="863600" y="5334000"/>
            <a:ext cx="6985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965200" y="5435600"/>
            <a:ext cx="406400" cy="406400"/>
          </a:xfrm>
          <a:prstGeom prst="ellipse">
            <a:avLst/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965200" y="5435600"/>
            <a:ext cx="406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1498600" y="5448300"/>
            <a:ext cx="622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加密包封装：</a:t>
            </a:r>
            <a:r>
              <a:rPr lang="en-US" sz="15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构建文件头，包含魔数、EFEK列表及元数据，与密文拼接为完整数据包</a:t>
            </a:r>
            <a:endParaRPr lang="en-US" sz="1100"/>
          </a:p>
        </p:txBody>
      </p:sp>
      <p:cxnSp>
        <p:nvCxnSpPr>
          <p:cNvPr id="38" name="Connector 38"/>
          <p:cNvCxnSpPr/>
          <p:nvPr/>
        </p:nvCxnSpPr>
        <p:spPr>
          <a:xfrm rot="5197881">
            <a:off x="4146459" y="6038943"/>
            <a:ext cx="43198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64748B">
                <a:alpha val="100000"/>
              </a:srgbClr>
            </a:solidFill>
            <a:prstDash val="solid"/>
            <a:miter lim="10000000"/>
            <a:headEnd type="none" w="med" len="med"/>
            <a:tailEnd type="arrow" w="med" len="med"/>
          </a:ln>
        </p:spPr>
      </p:cxnSp>
      <p:sp>
        <p:nvSpPr>
          <p:cNvPr id="39" name="AutoShape 39"/>
          <p:cNvSpPr/>
          <p:nvPr/>
        </p:nvSpPr>
        <p:spPr>
          <a:xfrm>
            <a:off x="863600" y="6146800"/>
            <a:ext cx="6985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965200" y="6248400"/>
            <a:ext cx="406400" cy="406400"/>
          </a:xfrm>
          <a:prstGeom prst="ellipse">
            <a:avLst/>
          </a:prstGeom>
          <a:solidFill>
            <a:srgbClr val="C45D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965200" y="6248400"/>
            <a:ext cx="406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1498600" y="6261100"/>
            <a:ext cx="622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密文安全落盘：</a:t>
            </a:r>
            <a:r>
              <a:rPr lang="en-US" sz="15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将完整加密数据包写入磁盘，确保介质存储内容无任何明文信息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8255000" y="1320800"/>
            <a:ext cx="7493000" cy="6832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44"/>
          <p:cNvSpPr/>
          <p:nvPr/>
        </p:nvSpPr>
        <p:spPr>
          <a:xfrm>
            <a:off x="8509000" y="1524000"/>
            <a:ext cx="1270000" cy="355600"/>
          </a:xfrm>
          <a:prstGeom prst="roundRect">
            <a:avLst>
              <a:gd name="adj" fmla="val 0"/>
            </a:avLst>
          </a:prstGeom>
          <a:solidFill>
            <a:srgbClr val="3A5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45"/>
          <p:cNvSpPr/>
          <p:nvPr/>
        </p:nvSpPr>
        <p:spPr>
          <a:xfrm>
            <a:off x="8509000" y="1524000"/>
            <a:ext cx="1270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读取流程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8509000" y="2082800"/>
            <a:ext cx="6985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AutoShape 47"/>
          <p:cNvSpPr/>
          <p:nvPr/>
        </p:nvSpPr>
        <p:spPr>
          <a:xfrm>
            <a:off x="8610600" y="2184400"/>
            <a:ext cx="406400" cy="406400"/>
          </a:xfrm>
          <a:prstGeom prst="ellipse">
            <a:avLst/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48"/>
          <p:cNvSpPr/>
          <p:nvPr/>
        </p:nvSpPr>
        <p:spPr>
          <a:xfrm>
            <a:off x="8610600" y="2184400"/>
            <a:ext cx="406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9144000" y="2197100"/>
            <a:ext cx="622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读请求拦截与识别：</a:t>
            </a:r>
            <a:r>
              <a:rPr lang="en-US" sz="13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Dokany用户态文件系统拦截Windows IRP读取请求，检测文件魔数识别加密格式文件</a:t>
            </a:r>
            <a:endParaRPr lang="en-US" sz="1100"/>
          </a:p>
        </p:txBody>
      </p:sp>
      <p:cxnSp>
        <p:nvCxnSpPr>
          <p:cNvPr id="50" name="Connector 50"/>
          <p:cNvCxnSpPr/>
          <p:nvPr/>
        </p:nvCxnSpPr>
        <p:spPr>
          <a:xfrm rot="5197881">
            <a:off x="11791859" y="2787743"/>
            <a:ext cx="43198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64748B">
                <a:alpha val="100000"/>
              </a:srgbClr>
            </a:solidFill>
            <a:prstDash val="solid"/>
            <a:miter lim="10000000"/>
            <a:headEnd type="none" w="med" len="med"/>
            <a:tailEnd type="arrow" w="med" len="med"/>
          </a:ln>
        </p:spPr>
      </p:cxnSp>
      <p:sp>
        <p:nvSpPr>
          <p:cNvPr id="51" name="AutoShape 51"/>
          <p:cNvSpPr/>
          <p:nvPr/>
        </p:nvSpPr>
        <p:spPr>
          <a:xfrm>
            <a:off x="8509000" y="2895600"/>
            <a:ext cx="6985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2" name="AutoShape 52"/>
          <p:cNvSpPr/>
          <p:nvPr/>
        </p:nvSpPr>
        <p:spPr>
          <a:xfrm>
            <a:off x="8610600" y="2997200"/>
            <a:ext cx="406400" cy="406400"/>
          </a:xfrm>
          <a:prstGeom prst="ellipse">
            <a:avLst/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3" name="AutoShape 53"/>
          <p:cNvSpPr/>
          <p:nvPr/>
        </p:nvSpPr>
        <p:spPr>
          <a:xfrm>
            <a:off x="8610600" y="2997200"/>
            <a:ext cx="406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9144000" y="3009900"/>
            <a:ext cx="622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权限验证与密钥获取：</a:t>
            </a:r>
            <a:r>
              <a:rPr lang="en-US" sz="15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校验RBAC权限，用用户私钥解密文件头中的EFEK，还原FEK</a:t>
            </a:r>
            <a:endParaRPr lang="en-US" sz="1100"/>
          </a:p>
        </p:txBody>
      </p:sp>
      <p:cxnSp>
        <p:nvCxnSpPr>
          <p:cNvPr id="55" name="Connector 55"/>
          <p:cNvCxnSpPr/>
          <p:nvPr/>
        </p:nvCxnSpPr>
        <p:spPr>
          <a:xfrm rot="5197881">
            <a:off x="11791859" y="3600543"/>
            <a:ext cx="43198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64748B">
                <a:alpha val="100000"/>
              </a:srgbClr>
            </a:solidFill>
            <a:prstDash val="solid"/>
            <a:miter lim="10000000"/>
            <a:headEnd type="none" w="med" len="med"/>
            <a:tailEnd type="arrow" w="med" len="med"/>
          </a:ln>
        </p:spPr>
      </p:cxnSp>
      <p:sp>
        <p:nvSpPr>
          <p:cNvPr id="56" name="AutoShape 56"/>
          <p:cNvSpPr/>
          <p:nvPr/>
        </p:nvSpPr>
        <p:spPr>
          <a:xfrm>
            <a:off x="8509000" y="3708400"/>
            <a:ext cx="6985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7" name="AutoShape 57"/>
          <p:cNvSpPr/>
          <p:nvPr/>
        </p:nvSpPr>
        <p:spPr>
          <a:xfrm>
            <a:off x="8610600" y="3810000"/>
            <a:ext cx="406400" cy="406400"/>
          </a:xfrm>
          <a:prstGeom prst="ellipse">
            <a:avLst/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8" name="AutoShape 58"/>
          <p:cNvSpPr/>
          <p:nvPr/>
        </p:nvSpPr>
        <p:spPr>
          <a:xfrm>
            <a:off x="8610600" y="3810000"/>
            <a:ext cx="406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lang="en-US" sz="1100"/>
          </a:p>
        </p:txBody>
      </p:sp>
      <p:sp>
        <p:nvSpPr>
          <p:cNvPr id="59" name="AutoShape 59"/>
          <p:cNvSpPr/>
          <p:nvPr/>
        </p:nvSpPr>
        <p:spPr>
          <a:xfrm>
            <a:off x="9144000" y="3822700"/>
            <a:ext cx="622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读取密文数据块：</a:t>
            </a:r>
            <a:r>
              <a:rPr lang="en-US" sz="15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从磁盘介质读取包含Nonce、GCM认证标签及密文的完整数据块</a:t>
            </a:r>
            <a:endParaRPr lang="en-US" sz="1100"/>
          </a:p>
        </p:txBody>
      </p:sp>
      <p:cxnSp>
        <p:nvCxnSpPr>
          <p:cNvPr id="60" name="Connector 60"/>
          <p:cNvCxnSpPr/>
          <p:nvPr/>
        </p:nvCxnSpPr>
        <p:spPr>
          <a:xfrm rot="5197881">
            <a:off x="11791859" y="4413343"/>
            <a:ext cx="43198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64748B">
                <a:alpha val="100000"/>
              </a:srgbClr>
            </a:solidFill>
            <a:prstDash val="solid"/>
            <a:miter lim="10000000"/>
            <a:headEnd type="none" w="med" len="med"/>
            <a:tailEnd type="arrow" w="med" len="med"/>
          </a:ln>
        </p:spPr>
      </p:cxnSp>
      <p:sp>
        <p:nvSpPr>
          <p:cNvPr id="61" name="AutoShape 61"/>
          <p:cNvSpPr/>
          <p:nvPr/>
        </p:nvSpPr>
        <p:spPr>
          <a:xfrm>
            <a:off x="8509000" y="4521200"/>
            <a:ext cx="6985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2" name="AutoShape 62"/>
          <p:cNvSpPr/>
          <p:nvPr/>
        </p:nvSpPr>
        <p:spPr>
          <a:xfrm>
            <a:off x="8610600" y="4622800"/>
            <a:ext cx="406400" cy="406400"/>
          </a:xfrm>
          <a:prstGeom prst="ellipse">
            <a:avLst/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3" name="AutoShape 63"/>
          <p:cNvSpPr/>
          <p:nvPr/>
        </p:nvSpPr>
        <p:spPr>
          <a:xfrm>
            <a:off x="8610600" y="4622800"/>
            <a:ext cx="406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lang="en-US" sz="1100"/>
          </a:p>
        </p:txBody>
      </p:sp>
      <p:sp>
        <p:nvSpPr>
          <p:cNvPr id="64" name="AutoShape 64"/>
          <p:cNvSpPr/>
          <p:nvPr/>
        </p:nvSpPr>
        <p:spPr>
          <a:xfrm>
            <a:off x="9144000" y="4635500"/>
            <a:ext cx="622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解密与完整性校验：</a:t>
            </a:r>
            <a:r>
              <a:rPr lang="en-US" sz="15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使用FEK解密密文，同时验证GCM标签，确保数据未被非法篡改</a:t>
            </a:r>
            <a:endParaRPr lang="en-US" sz="1100"/>
          </a:p>
        </p:txBody>
      </p:sp>
      <p:cxnSp>
        <p:nvCxnSpPr>
          <p:cNvPr id="65" name="Connector 65"/>
          <p:cNvCxnSpPr/>
          <p:nvPr/>
        </p:nvCxnSpPr>
        <p:spPr>
          <a:xfrm rot="5197881">
            <a:off x="11791859" y="5226143"/>
            <a:ext cx="43198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64748B">
                <a:alpha val="100000"/>
              </a:srgbClr>
            </a:solidFill>
            <a:prstDash val="solid"/>
            <a:miter lim="10000000"/>
            <a:headEnd type="none" w="med" len="med"/>
            <a:tailEnd type="arrow" w="med" len="med"/>
          </a:ln>
        </p:spPr>
      </p:cxnSp>
      <p:sp>
        <p:nvSpPr>
          <p:cNvPr id="66" name="AutoShape 66"/>
          <p:cNvSpPr/>
          <p:nvPr/>
        </p:nvSpPr>
        <p:spPr>
          <a:xfrm>
            <a:off x="8509000" y="5334000"/>
            <a:ext cx="6985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7" name="AutoShape 67"/>
          <p:cNvSpPr/>
          <p:nvPr/>
        </p:nvSpPr>
        <p:spPr>
          <a:xfrm>
            <a:off x="8610600" y="5435600"/>
            <a:ext cx="406400" cy="406400"/>
          </a:xfrm>
          <a:prstGeom prst="ellipse">
            <a:avLst/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8" name="AutoShape 68"/>
          <p:cNvSpPr/>
          <p:nvPr/>
        </p:nvSpPr>
        <p:spPr>
          <a:xfrm>
            <a:off x="8610600" y="5435600"/>
            <a:ext cx="406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lang="en-US" sz="1100"/>
          </a:p>
        </p:txBody>
      </p:sp>
      <p:sp>
        <p:nvSpPr>
          <p:cNvPr id="69" name="AutoShape 69"/>
          <p:cNvSpPr/>
          <p:nvPr/>
        </p:nvSpPr>
        <p:spPr>
          <a:xfrm>
            <a:off x="9144000" y="5448300"/>
            <a:ext cx="622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内存安全防护：</a:t>
            </a:r>
            <a:r>
              <a:rPr lang="en-US" sz="15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VirtualLock锁定明文内存页，防止换出到磁盘，使用后即时清理</a:t>
            </a:r>
            <a:endParaRPr lang="en-US" sz="1100"/>
          </a:p>
        </p:txBody>
      </p:sp>
      <p:cxnSp>
        <p:nvCxnSpPr>
          <p:cNvPr id="70" name="Connector 70"/>
          <p:cNvCxnSpPr/>
          <p:nvPr/>
        </p:nvCxnSpPr>
        <p:spPr>
          <a:xfrm rot="5197881">
            <a:off x="11791859" y="6038943"/>
            <a:ext cx="43198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64748B">
                <a:alpha val="100000"/>
              </a:srgbClr>
            </a:solidFill>
            <a:prstDash val="solid"/>
            <a:miter lim="10000000"/>
            <a:headEnd type="none" w="med" len="med"/>
            <a:tailEnd type="arrow" w="med" len="med"/>
          </a:ln>
        </p:spPr>
      </p:cxnSp>
      <p:sp>
        <p:nvSpPr>
          <p:cNvPr id="71" name="AutoShape 71"/>
          <p:cNvSpPr/>
          <p:nvPr/>
        </p:nvSpPr>
        <p:spPr>
          <a:xfrm>
            <a:off x="8509000" y="6146800"/>
            <a:ext cx="6985000" cy="609600"/>
          </a:xfrm>
          <a:prstGeom prst="roundRect">
            <a:avLst>
              <a:gd name="adj" fmla="val 0"/>
            </a:avLst>
          </a:prstGeom>
          <a:solidFill>
            <a:srgbClr val="3A5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2" name="AutoShape 72"/>
          <p:cNvSpPr/>
          <p:nvPr/>
        </p:nvSpPr>
        <p:spPr>
          <a:xfrm>
            <a:off x="8610600" y="6248400"/>
            <a:ext cx="406400" cy="406400"/>
          </a:xfrm>
          <a:prstGeom prst="ellipse">
            <a:avLst/>
          </a:prstGeom>
          <a:solidFill>
            <a:srgbClr val="C45D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3" name="AutoShape 73"/>
          <p:cNvSpPr/>
          <p:nvPr/>
        </p:nvSpPr>
        <p:spPr>
          <a:xfrm>
            <a:off x="8610600" y="6248400"/>
            <a:ext cx="406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lang="en-US" sz="1100"/>
          </a:p>
        </p:txBody>
      </p:sp>
      <p:sp>
        <p:nvSpPr>
          <p:cNvPr id="74" name="AutoShape 74"/>
          <p:cNvSpPr/>
          <p:nvPr/>
        </p:nvSpPr>
        <p:spPr>
          <a:xfrm>
            <a:off x="9144000" y="6261100"/>
            <a:ext cx="622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返回可信明文：</a:t>
            </a:r>
            <a:r>
              <a:rPr lang="en-US" sz="15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将通过完整性验证的明文数据返回给应用，完成透明读取过程</a:t>
            </a:r>
            <a:endParaRPr lang="en-US" sz="1100"/>
          </a:p>
        </p:txBody>
      </p:sp>
      <p:sp>
        <p:nvSpPr>
          <p:cNvPr id="75" name="AutoShape 75"/>
          <p:cNvSpPr/>
          <p:nvPr/>
        </p:nvSpPr>
        <p:spPr>
          <a:xfrm>
            <a:off x="863600" y="8204200"/>
            <a:ext cx="146304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50000"/>
              </a:lnSpc>
              <a:defRPr/>
            </a:pPr>
            <a:r>
              <a:rPr lang="en-US" sz="15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核心安全保障：</a:t>
            </a:r>
            <a:r>
              <a:rPr lang="en-US" sz="15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GCM认证确保数据完整性 ｜ RBAC严格管控访问权限 ｜ 密钥隔离实现用户数据隔离 ｜ 内存锁定杜绝明文残留</a:t>
            </a:r>
            <a:endParaRPr lang="en-US" sz="1100"/>
          </a:p>
        </p:txBody>
      </p:sp>
      <p:sp>
        <p:nvSpPr>
          <p:cNvPr id="76" name="AutoShape 76"/>
          <p:cNvSpPr/>
          <p:nvPr/>
        </p:nvSpPr>
        <p:spPr>
          <a:xfrm>
            <a:off x="15240000" y="8763000"/>
            <a:ext cx="508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254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 项目背景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302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 需求分析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 系统架构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446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 分工计划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" y="711200"/>
            <a:ext cx="50800" cy="4064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12800" y="711200"/>
            <a:ext cx="7620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8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密钥体系设计与生命周期管理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09600" y="1371600"/>
            <a:ext cx="7493000" cy="711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>
            <a:off x="863600" y="1587500"/>
            <a:ext cx="402654" cy="419337"/>
          </a:xfrm>
          <a:custGeom>
            <a:avLst/>
            <a:gdLst/>
            <a:ahLst/>
            <a:cxnLst/>
            <a:rect l="l" t="t" r="r" b="b"/>
            <a:pathLst>
              <a:path w="402654" h="419337">
                <a:moveTo>
                  <a:pt x="203200" y="165100"/>
                </a:moveTo>
                <a:cubicBezTo>
                  <a:pt x="239648" y="165100"/>
                  <a:pt x="269240" y="128111"/>
                  <a:pt x="269240" y="82550"/>
                </a:cubicBezTo>
                <a:cubicBezTo>
                  <a:pt x="269240" y="36989"/>
                  <a:pt x="239648" y="0"/>
                  <a:pt x="203200" y="0"/>
                </a:cubicBezTo>
                <a:cubicBezTo>
                  <a:pt x="166752" y="0"/>
                  <a:pt x="137160" y="36989"/>
                  <a:pt x="137160" y="82550"/>
                </a:cubicBezTo>
                <a:cubicBezTo>
                  <a:pt x="137160" y="128111"/>
                  <a:pt x="166752" y="165100"/>
                  <a:pt x="203200" y="165100"/>
                </a:cubicBezTo>
                <a:close/>
                <a:moveTo>
                  <a:pt x="60960" y="171450"/>
                </a:moveTo>
                <a:cubicBezTo>
                  <a:pt x="86194" y="171450"/>
                  <a:pt x="106680" y="145842"/>
                  <a:pt x="106680" y="114300"/>
                </a:cubicBezTo>
                <a:cubicBezTo>
                  <a:pt x="106680" y="82758"/>
                  <a:pt x="86194" y="57150"/>
                  <a:pt x="60960" y="57150"/>
                </a:cubicBezTo>
                <a:cubicBezTo>
                  <a:pt x="35726" y="57150"/>
                  <a:pt x="15240" y="82758"/>
                  <a:pt x="15240" y="114300"/>
                </a:cubicBezTo>
                <a:cubicBezTo>
                  <a:pt x="15240" y="145842"/>
                  <a:pt x="35726" y="171450"/>
                  <a:pt x="60960" y="171450"/>
                </a:cubicBezTo>
                <a:close/>
                <a:moveTo>
                  <a:pt x="0" y="317500"/>
                </a:moveTo>
                <a:lnTo>
                  <a:pt x="0" y="342900"/>
                </a:lnTo>
                <a:cubicBezTo>
                  <a:pt x="0" y="356949"/>
                  <a:pt x="9080" y="368300"/>
                  <a:pt x="20320" y="368300"/>
                </a:cubicBezTo>
                <a:lnTo>
                  <a:pt x="75374" y="368300"/>
                </a:lnTo>
                <a:cubicBezTo>
                  <a:pt x="72644" y="360521"/>
                  <a:pt x="71120" y="351949"/>
                  <a:pt x="71120" y="342900"/>
                </a:cubicBezTo>
                <a:lnTo>
                  <a:pt x="71120" y="330200"/>
                </a:lnTo>
                <a:cubicBezTo>
                  <a:pt x="71120" y="287973"/>
                  <a:pt x="83820" y="249396"/>
                  <a:pt x="104712" y="220186"/>
                </a:cubicBezTo>
                <a:cubicBezTo>
                  <a:pt x="97282" y="217407"/>
                  <a:pt x="89408" y="215900"/>
                  <a:pt x="81280" y="215900"/>
                </a:cubicBezTo>
                <a:cubicBezTo>
                  <a:pt x="36385" y="215900"/>
                  <a:pt x="0" y="261383"/>
                  <a:pt x="0" y="317500"/>
                </a:cubicBezTo>
                <a:close/>
                <a:moveTo>
                  <a:pt x="391160" y="114300"/>
                </a:moveTo>
                <a:cubicBezTo>
                  <a:pt x="391160" y="82758"/>
                  <a:pt x="370674" y="57150"/>
                  <a:pt x="345440" y="57150"/>
                </a:cubicBezTo>
                <a:cubicBezTo>
                  <a:pt x="320206" y="57150"/>
                  <a:pt x="299720" y="82758"/>
                  <a:pt x="299720" y="114300"/>
                </a:cubicBezTo>
                <a:cubicBezTo>
                  <a:pt x="299720" y="145842"/>
                  <a:pt x="320206" y="171450"/>
                  <a:pt x="345440" y="171450"/>
                </a:cubicBezTo>
                <a:cubicBezTo>
                  <a:pt x="370674" y="171450"/>
                  <a:pt x="391160" y="145842"/>
                  <a:pt x="391160" y="114300"/>
                </a:cubicBezTo>
                <a:close/>
                <a:moveTo>
                  <a:pt x="101600" y="330200"/>
                </a:moveTo>
                <a:lnTo>
                  <a:pt x="101600" y="342900"/>
                </a:lnTo>
                <a:cubicBezTo>
                  <a:pt x="101600" y="356949"/>
                  <a:pt x="110680" y="368300"/>
                  <a:pt x="121920" y="368300"/>
                </a:cubicBezTo>
                <a:lnTo>
                  <a:pt x="221488" y="368300"/>
                </a:lnTo>
                <a:cubicBezTo>
                  <a:pt x="216980" y="351155"/>
                  <a:pt x="217488" y="333058"/>
                  <a:pt x="228282" y="317500"/>
                </a:cubicBezTo>
                <a:cubicBezTo>
                  <a:pt x="219392" y="304641"/>
                  <a:pt x="215265" y="285987"/>
                  <a:pt x="221044" y="267256"/>
                </a:cubicBezTo>
                <a:cubicBezTo>
                  <a:pt x="225234" y="253682"/>
                  <a:pt x="231140" y="240982"/>
                  <a:pt x="238442" y="229711"/>
                </a:cubicBezTo>
                <a:cubicBezTo>
                  <a:pt x="241872" y="224473"/>
                  <a:pt x="245808" y="220424"/>
                  <a:pt x="250063" y="217488"/>
                </a:cubicBezTo>
                <a:cubicBezTo>
                  <a:pt x="236030" y="208359"/>
                  <a:pt x="220091" y="203200"/>
                  <a:pt x="203200" y="203200"/>
                </a:cubicBezTo>
                <a:cubicBezTo>
                  <a:pt x="147066" y="203200"/>
                  <a:pt x="101600" y="260032"/>
                  <a:pt x="101600" y="330200"/>
                </a:cubicBezTo>
                <a:close/>
                <a:moveTo>
                  <a:pt x="396621" y="295196"/>
                </a:moveTo>
                <a:cubicBezTo>
                  <a:pt x="400622" y="292337"/>
                  <a:pt x="402654" y="286385"/>
                  <a:pt x="400939" y="280907"/>
                </a:cubicBezTo>
                <a:cubicBezTo>
                  <a:pt x="397891" y="271066"/>
                  <a:pt x="393636" y="261779"/>
                  <a:pt x="388302" y="253602"/>
                </a:cubicBezTo>
                <a:cubicBezTo>
                  <a:pt x="385382" y="249079"/>
                  <a:pt x="380238" y="248285"/>
                  <a:pt x="376238" y="251223"/>
                </a:cubicBezTo>
                <a:cubicBezTo>
                  <a:pt x="362394" y="261222"/>
                  <a:pt x="345376" y="248999"/>
                  <a:pt x="345376" y="228918"/>
                </a:cubicBezTo>
                <a:cubicBezTo>
                  <a:pt x="345376" y="223122"/>
                  <a:pt x="342265" y="217964"/>
                  <a:pt x="337693" y="217091"/>
                </a:cubicBezTo>
                <a:cubicBezTo>
                  <a:pt x="329502" y="215502"/>
                  <a:pt x="320675" y="215502"/>
                  <a:pt x="312484" y="217091"/>
                </a:cubicBezTo>
                <a:cubicBezTo>
                  <a:pt x="307912" y="217964"/>
                  <a:pt x="304800" y="223122"/>
                  <a:pt x="304800" y="228918"/>
                </a:cubicBezTo>
                <a:cubicBezTo>
                  <a:pt x="304800" y="248920"/>
                  <a:pt x="287782" y="261222"/>
                  <a:pt x="273939" y="251223"/>
                </a:cubicBezTo>
                <a:cubicBezTo>
                  <a:pt x="269938" y="248364"/>
                  <a:pt x="264795" y="249157"/>
                  <a:pt x="261874" y="253602"/>
                </a:cubicBezTo>
                <a:cubicBezTo>
                  <a:pt x="256540" y="261779"/>
                  <a:pt x="252286" y="271066"/>
                  <a:pt x="249238" y="280907"/>
                </a:cubicBezTo>
                <a:cubicBezTo>
                  <a:pt x="247586" y="286306"/>
                  <a:pt x="249555" y="292259"/>
                  <a:pt x="253556" y="295116"/>
                </a:cubicBezTo>
                <a:cubicBezTo>
                  <a:pt x="267462" y="305118"/>
                  <a:pt x="267462" y="329644"/>
                  <a:pt x="253556" y="339725"/>
                </a:cubicBezTo>
                <a:cubicBezTo>
                  <a:pt x="249555" y="342582"/>
                  <a:pt x="247523" y="348536"/>
                  <a:pt x="249238" y="353932"/>
                </a:cubicBezTo>
                <a:cubicBezTo>
                  <a:pt x="252286" y="363776"/>
                  <a:pt x="256540" y="373062"/>
                  <a:pt x="261874" y="381237"/>
                </a:cubicBezTo>
                <a:cubicBezTo>
                  <a:pt x="264795" y="385762"/>
                  <a:pt x="269938" y="386556"/>
                  <a:pt x="273939" y="383619"/>
                </a:cubicBezTo>
                <a:cubicBezTo>
                  <a:pt x="287782" y="373617"/>
                  <a:pt x="304800" y="385921"/>
                  <a:pt x="304800" y="405924"/>
                </a:cubicBezTo>
                <a:cubicBezTo>
                  <a:pt x="304800" y="411717"/>
                  <a:pt x="307912" y="416877"/>
                  <a:pt x="312484" y="417751"/>
                </a:cubicBezTo>
                <a:cubicBezTo>
                  <a:pt x="320675" y="419337"/>
                  <a:pt x="329502" y="419337"/>
                  <a:pt x="337693" y="417751"/>
                </a:cubicBezTo>
                <a:cubicBezTo>
                  <a:pt x="342265" y="416877"/>
                  <a:pt x="345376" y="411717"/>
                  <a:pt x="345376" y="405924"/>
                </a:cubicBezTo>
                <a:cubicBezTo>
                  <a:pt x="345376" y="385921"/>
                  <a:pt x="362394" y="373617"/>
                  <a:pt x="376238" y="383619"/>
                </a:cubicBezTo>
                <a:cubicBezTo>
                  <a:pt x="380238" y="386478"/>
                  <a:pt x="385382" y="385682"/>
                  <a:pt x="388302" y="381237"/>
                </a:cubicBezTo>
                <a:cubicBezTo>
                  <a:pt x="393636" y="373062"/>
                  <a:pt x="397891" y="363776"/>
                  <a:pt x="400939" y="353932"/>
                </a:cubicBezTo>
                <a:cubicBezTo>
                  <a:pt x="402590" y="348536"/>
                  <a:pt x="400622" y="342582"/>
                  <a:pt x="396621" y="339725"/>
                </a:cubicBezTo>
                <a:cubicBezTo>
                  <a:pt x="382714" y="329724"/>
                  <a:pt x="382714" y="305198"/>
                  <a:pt x="396621" y="295116"/>
                </a:cubicBezTo>
                <a:close/>
                <a:moveTo>
                  <a:pt x="299720" y="317500"/>
                </a:moveTo>
                <a:cubicBezTo>
                  <a:pt x="299720" y="299977"/>
                  <a:pt x="311100" y="285750"/>
                  <a:pt x="325120" y="285750"/>
                </a:cubicBezTo>
                <a:cubicBezTo>
                  <a:pt x="339140" y="285750"/>
                  <a:pt x="350520" y="299977"/>
                  <a:pt x="350520" y="317500"/>
                </a:cubicBezTo>
                <a:cubicBezTo>
                  <a:pt x="350520" y="335023"/>
                  <a:pt x="339140" y="349250"/>
                  <a:pt x="325120" y="349250"/>
                </a:cubicBezTo>
                <a:cubicBezTo>
                  <a:pt x="311100" y="349250"/>
                  <a:pt x="299720" y="335023"/>
                  <a:pt x="299720" y="317500"/>
                </a:cubicBezTo>
                <a:close/>
              </a:path>
            </a:pathLst>
          </a:cu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397000" y="1574800"/>
            <a:ext cx="3810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2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多用户共享模型机制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63600" y="2184400"/>
            <a:ext cx="6985000" cy="12192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2286000"/>
            <a:ext cx="1143000" cy="304800"/>
          </a:xfrm>
          <a:prstGeom prst="roundRect">
            <a:avLst>
              <a:gd name="adj" fmla="val 0"/>
            </a:avLst>
          </a:prstGeom>
          <a:solidFill>
            <a:srgbClr val="C45D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2286000"/>
            <a:ext cx="1143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共享流程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2667000"/>
            <a:ext cx="66802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所有者获取接收者公钥，用其加密FEK后，将密文追加到文件头的“FEK密文列表”，实现安全的密钥共享传递。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63600" y="3530600"/>
            <a:ext cx="6985000" cy="12192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16000" y="3632200"/>
            <a:ext cx="1143000" cy="3048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16000" y="3632200"/>
            <a:ext cx="1143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访问流程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16000" y="4013200"/>
            <a:ext cx="66802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授权用户访问文件时，从文件头检索匹配自身公钥的FEK密文，调用本地私钥完成解密，获取明文FEK以解锁文件内容。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63600" y="4876800"/>
            <a:ext cx="6985000" cy="12192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016000" y="4978400"/>
            <a:ext cx="1143000" cy="304800"/>
          </a:xfrm>
          <a:prstGeom prst="roundRect">
            <a:avLst>
              <a:gd name="adj" fmla="val 0"/>
            </a:avLst>
          </a:prstGeom>
          <a:solidFill>
            <a:srgbClr val="3A5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16000" y="4978400"/>
            <a:ext cx="1143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权限撤销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016000" y="5359400"/>
            <a:ext cx="66802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无需修改文件本身，所有者仅需从文件头移除对应用户的FEK密文条目，即可即时终止该用户对文件的解密访问权限。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63600" y="6223000"/>
            <a:ext cx="6985000" cy="12192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1016000" y="6324600"/>
            <a:ext cx="1143000" cy="304800"/>
          </a:xfrm>
          <a:prstGeom prst="roundRect">
            <a:avLst>
              <a:gd name="adj" fmla="val 0"/>
            </a:avLst>
          </a:prstGeom>
          <a:solidFill>
            <a:srgbClr val="64748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1016000" y="6324600"/>
            <a:ext cx="1143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核心优势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016000" y="6705600"/>
            <a:ext cx="66802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实现“一次加密，多方共享”，密钥流转全程离线化，避免中心化密钥库风险，大幅降低密钥管理与传输的复杂度。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63600" y="7747000"/>
            <a:ext cx="6985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共享逻辑：公钥加密FEK → 密文随文件分发 → 私钥解密FEK → 按需动态授权与撤销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255000" y="1371600"/>
            <a:ext cx="7493000" cy="711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8509000" y="1574800"/>
            <a:ext cx="406400" cy="406400"/>
          </a:xfrm>
          <a:prstGeom prst="ellipse">
            <a:avLst/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9042400" y="1574800"/>
            <a:ext cx="5080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2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全生命周期密钥管理闭环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509000" y="2082800"/>
            <a:ext cx="6985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从生成到销毁的全链路管控，确保密钥安全可控、流转可溯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509000" y="2590800"/>
            <a:ext cx="6985000" cy="9652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Freeform 36"/>
          <p:cNvSpPr/>
          <p:nvPr/>
        </p:nvSpPr>
        <p:spPr>
          <a:xfrm>
            <a:off x="8711644" y="2867025"/>
            <a:ext cx="356713" cy="311150"/>
          </a:xfrm>
          <a:custGeom>
            <a:avLst/>
            <a:gdLst/>
            <a:ahLst/>
            <a:cxnLst/>
            <a:rect l="l" t="t" r="r" b="b"/>
            <a:pathLst>
              <a:path w="356713" h="311150">
                <a:moveTo>
                  <a:pt x="178356" y="0"/>
                </a:moveTo>
                <a:cubicBezTo>
                  <a:pt x="128473" y="0"/>
                  <a:pt x="88530" y="25559"/>
                  <a:pt x="59452" y="55979"/>
                </a:cubicBezTo>
                <a:cubicBezTo>
                  <a:pt x="30560" y="86191"/>
                  <a:pt x="11235" y="122237"/>
                  <a:pt x="2038" y="147032"/>
                </a:cubicBezTo>
                <a:cubicBezTo>
                  <a:pt x="0" y="152519"/>
                  <a:pt x="0" y="158631"/>
                  <a:pt x="2038" y="164118"/>
                </a:cubicBezTo>
                <a:cubicBezTo>
                  <a:pt x="11235" y="188913"/>
                  <a:pt x="30560" y="225027"/>
                  <a:pt x="59452" y="255171"/>
                </a:cubicBezTo>
                <a:cubicBezTo>
                  <a:pt x="88530" y="285521"/>
                  <a:pt x="128473" y="311150"/>
                  <a:pt x="178356" y="311150"/>
                </a:cubicBezTo>
                <a:cubicBezTo>
                  <a:pt x="228239" y="311150"/>
                  <a:pt x="268182" y="285591"/>
                  <a:pt x="297260" y="255171"/>
                </a:cubicBezTo>
                <a:cubicBezTo>
                  <a:pt x="326152" y="224959"/>
                  <a:pt x="345477" y="188913"/>
                  <a:pt x="354674" y="164118"/>
                </a:cubicBezTo>
                <a:cubicBezTo>
                  <a:pt x="356712" y="158631"/>
                  <a:pt x="356712" y="152519"/>
                  <a:pt x="354674" y="147032"/>
                </a:cubicBezTo>
                <a:cubicBezTo>
                  <a:pt x="345477" y="122237"/>
                  <a:pt x="326152" y="86123"/>
                  <a:pt x="297260" y="55979"/>
                </a:cubicBezTo>
                <a:cubicBezTo>
                  <a:pt x="268182" y="25629"/>
                  <a:pt x="228239" y="0"/>
                  <a:pt x="178356" y="0"/>
                </a:cubicBezTo>
                <a:close/>
                <a:moveTo>
                  <a:pt x="89456" y="155575"/>
                </a:moveTo>
                <a:cubicBezTo>
                  <a:pt x="89456" y="100377"/>
                  <a:pt x="129291" y="55563"/>
                  <a:pt x="178356" y="55563"/>
                </a:cubicBezTo>
                <a:cubicBezTo>
                  <a:pt x="227421" y="55563"/>
                  <a:pt x="267256" y="100377"/>
                  <a:pt x="267256" y="155575"/>
                </a:cubicBezTo>
                <a:cubicBezTo>
                  <a:pt x="267256" y="210773"/>
                  <a:pt x="227421" y="255587"/>
                  <a:pt x="178356" y="255587"/>
                </a:cubicBezTo>
                <a:cubicBezTo>
                  <a:pt x="129291" y="255587"/>
                  <a:pt x="89456" y="210773"/>
                  <a:pt x="89456" y="155575"/>
                </a:cubicBezTo>
                <a:close/>
                <a:moveTo>
                  <a:pt x="178356" y="111125"/>
                </a:moveTo>
                <a:cubicBezTo>
                  <a:pt x="178356" y="135642"/>
                  <a:pt x="160638" y="155575"/>
                  <a:pt x="138845" y="155575"/>
                </a:cubicBezTo>
                <a:cubicBezTo>
                  <a:pt x="131744" y="155575"/>
                  <a:pt x="125078" y="153491"/>
                  <a:pt x="119276" y="149741"/>
                </a:cubicBezTo>
                <a:cubicBezTo>
                  <a:pt x="118657" y="157311"/>
                  <a:pt x="119213" y="165090"/>
                  <a:pt x="121065" y="172799"/>
                </a:cubicBezTo>
                <a:cubicBezTo>
                  <a:pt x="129523" y="208359"/>
                  <a:pt x="162058" y="229472"/>
                  <a:pt x="193667" y="219958"/>
                </a:cubicBezTo>
                <a:cubicBezTo>
                  <a:pt x="225275" y="210443"/>
                  <a:pt x="244043" y="173841"/>
                  <a:pt x="235585" y="138281"/>
                </a:cubicBezTo>
                <a:cubicBezTo>
                  <a:pt x="228054" y="106542"/>
                  <a:pt x="201321" y="86330"/>
                  <a:pt x="173171" y="89108"/>
                </a:cubicBezTo>
                <a:cubicBezTo>
                  <a:pt x="176442" y="95567"/>
                  <a:pt x="178356" y="103068"/>
                  <a:pt x="178356" y="111125"/>
                </a:cubicBezTo>
                <a:close/>
              </a:path>
            </a:pathLst>
          </a:cu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9220200" y="2692400"/>
            <a:ext cx="381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 安全生成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9220200" y="3022600"/>
            <a:ext cx="60706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用户首次登录自动生成高强度RSA密钥对；文件创建时随机生成唯一FEK，确保一钥一密。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509000" y="3683000"/>
            <a:ext cx="6985000" cy="9652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Freeform 40"/>
          <p:cNvSpPr/>
          <p:nvPr/>
        </p:nvSpPr>
        <p:spPr>
          <a:xfrm>
            <a:off x="8712200" y="3937000"/>
            <a:ext cx="355669" cy="352196"/>
          </a:xfrm>
          <a:custGeom>
            <a:avLst/>
            <a:gdLst/>
            <a:ahLst/>
            <a:cxnLst/>
            <a:rect l="l" t="t" r="r" b="b"/>
            <a:pathLst>
              <a:path w="355669" h="352196">
                <a:moveTo>
                  <a:pt x="33338" y="177800"/>
                </a:moveTo>
                <a:cubicBezTo>
                  <a:pt x="33338" y="97998"/>
                  <a:pt x="97998" y="33338"/>
                  <a:pt x="177800" y="33338"/>
                </a:cubicBezTo>
                <a:cubicBezTo>
                  <a:pt x="221625" y="33338"/>
                  <a:pt x="260866" y="52854"/>
                  <a:pt x="287397" y="83690"/>
                </a:cubicBezTo>
                <a:cubicBezTo>
                  <a:pt x="293370" y="90706"/>
                  <a:pt x="303928" y="91470"/>
                  <a:pt x="310872" y="85496"/>
                </a:cubicBezTo>
                <a:cubicBezTo>
                  <a:pt x="317818" y="79524"/>
                  <a:pt x="318651" y="68967"/>
                  <a:pt x="312678" y="62022"/>
                </a:cubicBezTo>
                <a:cubicBezTo>
                  <a:pt x="280104" y="24031"/>
                  <a:pt x="231765" y="0"/>
                  <a:pt x="177800" y="0"/>
                </a:cubicBezTo>
                <a:cubicBezTo>
                  <a:pt x="79593" y="0"/>
                  <a:pt x="0" y="79593"/>
                  <a:pt x="0" y="177800"/>
                </a:cubicBezTo>
                <a:lnTo>
                  <a:pt x="0" y="205581"/>
                </a:lnTo>
                <a:cubicBezTo>
                  <a:pt x="0" y="214819"/>
                  <a:pt x="7431" y="222250"/>
                  <a:pt x="16669" y="222250"/>
                </a:cubicBezTo>
                <a:cubicBezTo>
                  <a:pt x="25905" y="222250"/>
                  <a:pt x="33338" y="214819"/>
                  <a:pt x="33338" y="205581"/>
                </a:cubicBezTo>
                <a:lnTo>
                  <a:pt x="33338" y="177800"/>
                </a:lnTo>
                <a:close/>
                <a:moveTo>
                  <a:pt x="351780" y="141059"/>
                </a:moveTo>
                <a:cubicBezTo>
                  <a:pt x="349905" y="132030"/>
                  <a:pt x="341015" y="126266"/>
                  <a:pt x="332055" y="128210"/>
                </a:cubicBezTo>
                <a:cubicBezTo>
                  <a:pt x="323096" y="130155"/>
                  <a:pt x="317263" y="138976"/>
                  <a:pt x="319207" y="147935"/>
                </a:cubicBezTo>
                <a:cubicBezTo>
                  <a:pt x="321221" y="157589"/>
                  <a:pt x="322332" y="167590"/>
                  <a:pt x="322332" y="177869"/>
                </a:cubicBezTo>
                <a:lnTo>
                  <a:pt x="322332" y="205651"/>
                </a:lnTo>
                <a:cubicBezTo>
                  <a:pt x="322332" y="214888"/>
                  <a:pt x="329763" y="222319"/>
                  <a:pt x="339001" y="222319"/>
                </a:cubicBezTo>
                <a:cubicBezTo>
                  <a:pt x="348238" y="222319"/>
                  <a:pt x="355669" y="214888"/>
                  <a:pt x="355669" y="205651"/>
                </a:cubicBezTo>
                <a:lnTo>
                  <a:pt x="355669" y="177869"/>
                </a:lnTo>
                <a:cubicBezTo>
                  <a:pt x="355669" y="165298"/>
                  <a:pt x="354350" y="153005"/>
                  <a:pt x="351850" y="141129"/>
                </a:cubicBezTo>
                <a:close/>
                <a:moveTo>
                  <a:pt x="177800" y="55562"/>
                </a:moveTo>
                <a:cubicBezTo>
                  <a:pt x="164603" y="55562"/>
                  <a:pt x="151825" y="57647"/>
                  <a:pt x="139948" y="61535"/>
                </a:cubicBezTo>
                <a:cubicBezTo>
                  <a:pt x="129391" y="65007"/>
                  <a:pt x="126961" y="77996"/>
                  <a:pt x="134183" y="86469"/>
                </a:cubicBezTo>
                <a:cubicBezTo>
                  <a:pt x="139115" y="92234"/>
                  <a:pt x="147241" y="93970"/>
                  <a:pt x="154603" y="91956"/>
                </a:cubicBezTo>
                <a:cubicBezTo>
                  <a:pt x="161964" y="89941"/>
                  <a:pt x="169743" y="88900"/>
                  <a:pt x="177800" y="88900"/>
                </a:cubicBezTo>
                <a:cubicBezTo>
                  <a:pt x="226903" y="88900"/>
                  <a:pt x="266700" y="128697"/>
                  <a:pt x="266700" y="177800"/>
                </a:cubicBezTo>
                <a:lnTo>
                  <a:pt x="266700" y="195094"/>
                </a:lnTo>
                <a:cubicBezTo>
                  <a:pt x="266700" y="212595"/>
                  <a:pt x="265659" y="230029"/>
                  <a:pt x="263644" y="247392"/>
                </a:cubicBezTo>
                <a:cubicBezTo>
                  <a:pt x="262463" y="257532"/>
                  <a:pt x="270173" y="266700"/>
                  <a:pt x="280452" y="266700"/>
                </a:cubicBezTo>
                <a:cubicBezTo>
                  <a:pt x="288647" y="266700"/>
                  <a:pt x="295662" y="260727"/>
                  <a:pt x="296634" y="252600"/>
                </a:cubicBezTo>
                <a:cubicBezTo>
                  <a:pt x="298926" y="233571"/>
                  <a:pt x="300107" y="214401"/>
                  <a:pt x="300107" y="195163"/>
                </a:cubicBezTo>
                <a:lnTo>
                  <a:pt x="300107" y="177869"/>
                </a:lnTo>
                <a:cubicBezTo>
                  <a:pt x="300107" y="110360"/>
                  <a:pt x="245378" y="55632"/>
                  <a:pt x="177869" y="55632"/>
                </a:cubicBezTo>
                <a:close/>
                <a:moveTo>
                  <a:pt x="104666" y="103276"/>
                </a:moveTo>
                <a:cubicBezTo>
                  <a:pt x="98346" y="95915"/>
                  <a:pt x="87094" y="95359"/>
                  <a:pt x="81121" y="103000"/>
                </a:cubicBezTo>
                <a:cubicBezTo>
                  <a:pt x="65079" y="123695"/>
                  <a:pt x="55562" y="149602"/>
                  <a:pt x="55562" y="177800"/>
                </a:cubicBezTo>
                <a:lnTo>
                  <a:pt x="55562" y="195094"/>
                </a:lnTo>
                <a:cubicBezTo>
                  <a:pt x="55562" y="211901"/>
                  <a:pt x="53757" y="228709"/>
                  <a:pt x="50145" y="245031"/>
                </a:cubicBezTo>
                <a:cubicBezTo>
                  <a:pt x="47784" y="255866"/>
                  <a:pt x="55632" y="266631"/>
                  <a:pt x="66744" y="266631"/>
                </a:cubicBezTo>
                <a:cubicBezTo>
                  <a:pt x="74037" y="266631"/>
                  <a:pt x="80566" y="261769"/>
                  <a:pt x="82163" y="254615"/>
                </a:cubicBezTo>
                <a:cubicBezTo>
                  <a:pt x="86608" y="235099"/>
                  <a:pt x="88900" y="215166"/>
                  <a:pt x="88900" y="195024"/>
                </a:cubicBezTo>
                <a:lnTo>
                  <a:pt x="88900" y="177731"/>
                </a:lnTo>
                <a:cubicBezTo>
                  <a:pt x="88900" y="158839"/>
                  <a:pt x="94804" y="141337"/>
                  <a:pt x="104805" y="126961"/>
                </a:cubicBezTo>
                <a:cubicBezTo>
                  <a:pt x="109805" y="119737"/>
                  <a:pt x="110360" y="109875"/>
                  <a:pt x="104666" y="103207"/>
                </a:cubicBezTo>
                <a:close/>
                <a:moveTo>
                  <a:pt x="177800" y="111125"/>
                </a:moveTo>
                <a:cubicBezTo>
                  <a:pt x="140990" y="111125"/>
                  <a:pt x="111125" y="140990"/>
                  <a:pt x="111125" y="177800"/>
                </a:cubicBezTo>
                <a:lnTo>
                  <a:pt x="111125" y="195094"/>
                </a:lnTo>
                <a:cubicBezTo>
                  <a:pt x="111125" y="220028"/>
                  <a:pt x="107930" y="244753"/>
                  <a:pt x="101540" y="268784"/>
                </a:cubicBezTo>
                <a:cubicBezTo>
                  <a:pt x="98901" y="278715"/>
                  <a:pt x="106194" y="288925"/>
                  <a:pt x="116473" y="288925"/>
                </a:cubicBezTo>
                <a:cubicBezTo>
                  <a:pt x="123071" y="288925"/>
                  <a:pt x="128905" y="284618"/>
                  <a:pt x="130641" y="278229"/>
                </a:cubicBezTo>
                <a:cubicBezTo>
                  <a:pt x="137933" y="251142"/>
                  <a:pt x="141684" y="223222"/>
                  <a:pt x="141684" y="195094"/>
                </a:cubicBezTo>
                <a:lnTo>
                  <a:pt x="141684" y="177800"/>
                </a:lnTo>
                <a:cubicBezTo>
                  <a:pt x="141684" y="157867"/>
                  <a:pt x="157867" y="141684"/>
                  <a:pt x="177800" y="141684"/>
                </a:cubicBezTo>
                <a:cubicBezTo>
                  <a:pt x="197733" y="141684"/>
                  <a:pt x="213916" y="157867"/>
                  <a:pt x="213916" y="177800"/>
                </a:cubicBezTo>
                <a:lnTo>
                  <a:pt x="213916" y="195094"/>
                </a:lnTo>
                <a:cubicBezTo>
                  <a:pt x="213916" y="220306"/>
                  <a:pt x="211485" y="245378"/>
                  <a:pt x="206692" y="270034"/>
                </a:cubicBezTo>
                <a:cubicBezTo>
                  <a:pt x="204817" y="279688"/>
                  <a:pt x="212040" y="288925"/>
                  <a:pt x="221833" y="288925"/>
                </a:cubicBezTo>
                <a:cubicBezTo>
                  <a:pt x="228918" y="288925"/>
                  <a:pt x="235029" y="284063"/>
                  <a:pt x="236418" y="277118"/>
                </a:cubicBezTo>
                <a:cubicBezTo>
                  <a:pt x="241766" y="250170"/>
                  <a:pt x="244475" y="222736"/>
                  <a:pt x="244475" y="195094"/>
                </a:cubicBezTo>
                <a:lnTo>
                  <a:pt x="244475" y="177800"/>
                </a:lnTo>
                <a:cubicBezTo>
                  <a:pt x="244475" y="140990"/>
                  <a:pt x="214610" y="111125"/>
                  <a:pt x="177800" y="111125"/>
                </a:cubicBezTo>
                <a:close/>
                <a:moveTo>
                  <a:pt x="194469" y="177800"/>
                </a:moveTo>
                <a:cubicBezTo>
                  <a:pt x="194469" y="168563"/>
                  <a:pt x="187037" y="161131"/>
                  <a:pt x="177800" y="161131"/>
                </a:cubicBezTo>
                <a:cubicBezTo>
                  <a:pt x="168563" y="161131"/>
                  <a:pt x="161131" y="168563"/>
                  <a:pt x="161131" y="177800"/>
                </a:cubicBezTo>
                <a:lnTo>
                  <a:pt x="161131" y="195094"/>
                </a:lnTo>
                <a:cubicBezTo>
                  <a:pt x="161131" y="236696"/>
                  <a:pt x="153491" y="277951"/>
                  <a:pt x="138560" y="316776"/>
                </a:cubicBezTo>
                <a:lnTo>
                  <a:pt x="134461" y="327402"/>
                </a:lnTo>
                <a:cubicBezTo>
                  <a:pt x="131128" y="336014"/>
                  <a:pt x="135434" y="345669"/>
                  <a:pt x="144046" y="348932"/>
                </a:cubicBezTo>
                <a:cubicBezTo>
                  <a:pt x="152658" y="352196"/>
                  <a:pt x="162312" y="347960"/>
                  <a:pt x="165576" y="339348"/>
                </a:cubicBezTo>
                <a:lnTo>
                  <a:pt x="169675" y="328722"/>
                </a:lnTo>
                <a:cubicBezTo>
                  <a:pt x="186065" y="286076"/>
                  <a:pt x="194469" y="240795"/>
                  <a:pt x="194469" y="195094"/>
                </a:cubicBezTo>
                <a:lnTo>
                  <a:pt x="194469" y="177800"/>
                </a:lnTo>
                <a:close/>
              </a:path>
            </a:pathLst>
          </a:cu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9220200" y="3784600"/>
            <a:ext cx="381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 可信分发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9220200" y="4114800"/>
            <a:ext cx="60706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公钥公开自由分发，FEK密文随文件头安全携带，无需独立的密钥分发通道，降低传输泄露风险。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8509000" y="4775200"/>
            <a:ext cx="6985000" cy="965200"/>
          </a:xfrm>
          <a:prstGeom prst="roundRect">
            <a:avLst>
              <a:gd name="adj" fmla="val 0"/>
            </a:avLst>
          </a:prstGeom>
          <a:solidFill>
            <a:srgbClr val="1B3A5C">
              <a:alpha val="7099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Freeform 44"/>
          <p:cNvSpPr/>
          <p:nvPr/>
        </p:nvSpPr>
        <p:spPr>
          <a:xfrm>
            <a:off x="8710532" y="5049133"/>
            <a:ext cx="357268" cy="296774"/>
          </a:xfrm>
          <a:custGeom>
            <a:avLst/>
            <a:gdLst/>
            <a:ahLst/>
            <a:cxnLst/>
            <a:rect l="l" t="t" r="r" b="b"/>
            <a:pathLst>
              <a:path w="357268" h="296774">
                <a:moveTo>
                  <a:pt x="94596" y="5278"/>
                </a:moveTo>
                <a:cubicBezTo>
                  <a:pt x="102167" y="10557"/>
                  <a:pt x="103972" y="20975"/>
                  <a:pt x="98693" y="28476"/>
                </a:cubicBezTo>
                <a:lnTo>
                  <a:pt x="59800" y="84038"/>
                </a:lnTo>
                <a:cubicBezTo>
                  <a:pt x="56952" y="88067"/>
                  <a:pt x="52507" y="90636"/>
                  <a:pt x="47577" y="91054"/>
                </a:cubicBezTo>
                <a:cubicBezTo>
                  <a:pt x="42645" y="91470"/>
                  <a:pt x="37784" y="89803"/>
                  <a:pt x="34311" y="86330"/>
                </a:cubicBezTo>
                <a:lnTo>
                  <a:pt x="6530" y="58549"/>
                </a:lnTo>
                <a:cubicBezTo>
                  <a:pt x="72" y="52020"/>
                  <a:pt x="72" y="41464"/>
                  <a:pt x="6530" y="34935"/>
                </a:cubicBezTo>
                <a:cubicBezTo>
                  <a:pt x="12989" y="28406"/>
                  <a:pt x="23615" y="28476"/>
                  <a:pt x="30144" y="34935"/>
                </a:cubicBezTo>
                <a:lnTo>
                  <a:pt x="43896" y="48686"/>
                </a:lnTo>
                <a:lnTo>
                  <a:pt x="71399" y="9376"/>
                </a:lnTo>
                <a:cubicBezTo>
                  <a:pt x="76677" y="1806"/>
                  <a:pt x="87095" y="0"/>
                  <a:pt x="94596" y="5278"/>
                </a:cubicBezTo>
                <a:close/>
                <a:moveTo>
                  <a:pt x="94596" y="116403"/>
                </a:moveTo>
                <a:cubicBezTo>
                  <a:pt x="102167" y="121682"/>
                  <a:pt x="103972" y="132100"/>
                  <a:pt x="98693" y="139601"/>
                </a:cubicBezTo>
                <a:lnTo>
                  <a:pt x="59800" y="195163"/>
                </a:lnTo>
                <a:cubicBezTo>
                  <a:pt x="56952" y="199192"/>
                  <a:pt x="52507" y="201761"/>
                  <a:pt x="47577" y="202179"/>
                </a:cubicBezTo>
                <a:cubicBezTo>
                  <a:pt x="42645" y="202595"/>
                  <a:pt x="37784" y="200928"/>
                  <a:pt x="34311" y="197455"/>
                </a:cubicBezTo>
                <a:lnTo>
                  <a:pt x="6530" y="169674"/>
                </a:lnTo>
                <a:cubicBezTo>
                  <a:pt x="0" y="163145"/>
                  <a:pt x="0" y="152589"/>
                  <a:pt x="6530" y="146128"/>
                </a:cubicBezTo>
                <a:cubicBezTo>
                  <a:pt x="13059" y="139670"/>
                  <a:pt x="23615" y="139601"/>
                  <a:pt x="30074" y="146128"/>
                </a:cubicBezTo>
                <a:lnTo>
                  <a:pt x="43826" y="159881"/>
                </a:lnTo>
                <a:lnTo>
                  <a:pt x="71329" y="120571"/>
                </a:lnTo>
                <a:cubicBezTo>
                  <a:pt x="76608" y="113000"/>
                  <a:pt x="87026" y="111195"/>
                  <a:pt x="94527" y="116473"/>
                </a:cubicBezTo>
                <a:close/>
                <a:moveTo>
                  <a:pt x="157243" y="46742"/>
                </a:moveTo>
                <a:cubicBezTo>
                  <a:pt x="157243" y="34448"/>
                  <a:pt x="167174" y="24517"/>
                  <a:pt x="179468" y="24517"/>
                </a:cubicBezTo>
                <a:lnTo>
                  <a:pt x="335043" y="24517"/>
                </a:lnTo>
                <a:cubicBezTo>
                  <a:pt x="347337" y="24517"/>
                  <a:pt x="357268" y="34448"/>
                  <a:pt x="357268" y="46742"/>
                </a:cubicBezTo>
                <a:cubicBezTo>
                  <a:pt x="357268" y="59036"/>
                  <a:pt x="347337" y="68967"/>
                  <a:pt x="335043" y="68967"/>
                </a:cubicBezTo>
                <a:lnTo>
                  <a:pt x="179468" y="68967"/>
                </a:lnTo>
                <a:cubicBezTo>
                  <a:pt x="167174" y="68967"/>
                  <a:pt x="157243" y="59036"/>
                  <a:pt x="157243" y="46742"/>
                </a:cubicBezTo>
                <a:close/>
                <a:moveTo>
                  <a:pt x="157243" y="157867"/>
                </a:moveTo>
                <a:cubicBezTo>
                  <a:pt x="157243" y="145573"/>
                  <a:pt x="167174" y="135642"/>
                  <a:pt x="179468" y="135642"/>
                </a:cubicBezTo>
                <a:lnTo>
                  <a:pt x="335043" y="135642"/>
                </a:lnTo>
                <a:cubicBezTo>
                  <a:pt x="347337" y="135642"/>
                  <a:pt x="357268" y="145573"/>
                  <a:pt x="357268" y="157867"/>
                </a:cubicBezTo>
                <a:cubicBezTo>
                  <a:pt x="357268" y="170161"/>
                  <a:pt x="347337" y="180092"/>
                  <a:pt x="335043" y="180092"/>
                </a:cubicBezTo>
                <a:lnTo>
                  <a:pt x="179468" y="180092"/>
                </a:lnTo>
                <a:cubicBezTo>
                  <a:pt x="167174" y="180092"/>
                  <a:pt x="157243" y="170161"/>
                  <a:pt x="157243" y="157867"/>
                </a:cubicBezTo>
                <a:close/>
                <a:moveTo>
                  <a:pt x="112793" y="268992"/>
                </a:moveTo>
                <a:cubicBezTo>
                  <a:pt x="112793" y="256698"/>
                  <a:pt x="122724" y="246767"/>
                  <a:pt x="135018" y="246767"/>
                </a:cubicBezTo>
                <a:lnTo>
                  <a:pt x="335043" y="246767"/>
                </a:lnTo>
                <a:cubicBezTo>
                  <a:pt x="347337" y="246767"/>
                  <a:pt x="357268" y="256698"/>
                  <a:pt x="357268" y="268992"/>
                </a:cubicBezTo>
                <a:cubicBezTo>
                  <a:pt x="357268" y="281286"/>
                  <a:pt x="347337" y="291217"/>
                  <a:pt x="335043" y="291217"/>
                </a:cubicBezTo>
                <a:lnTo>
                  <a:pt x="135018" y="291217"/>
                </a:lnTo>
                <a:cubicBezTo>
                  <a:pt x="122724" y="291217"/>
                  <a:pt x="112793" y="281286"/>
                  <a:pt x="112793" y="268992"/>
                </a:cubicBezTo>
                <a:close/>
                <a:moveTo>
                  <a:pt x="46118" y="241211"/>
                </a:moveTo>
                <a:cubicBezTo>
                  <a:pt x="61451" y="241211"/>
                  <a:pt x="73899" y="253659"/>
                  <a:pt x="73899" y="268992"/>
                </a:cubicBezTo>
                <a:cubicBezTo>
                  <a:pt x="73899" y="284325"/>
                  <a:pt x="61451" y="296773"/>
                  <a:pt x="46118" y="296773"/>
                </a:cubicBezTo>
                <a:cubicBezTo>
                  <a:pt x="30785" y="296773"/>
                  <a:pt x="18337" y="284325"/>
                  <a:pt x="18337" y="268992"/>
                </a:cubicBezTo>
                <a:cubicBezTo>
                  <a:pt x="18337" y="253659"/>
                  <a:pt x="30785" y="241211"/>
                  <a:pt x="46118" y="241211"/>
                </a:cubicBezTo>
                <a:close/>
              </a:path>
            </a:pathLst>
          </a:cu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45"/>
          <p:cNvSpPr/>
          <p:nvPr/>
        </p:nvSpPr>
        <p:spPr>
          <a:xfrm>
            <a:off x="9220200" y="4876800"/>
            <a:ext cx="381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 动态轮换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9220200" y="5207000"/>
            <a:ext cx="60706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支持用户主动更换密钥对，系统后台可自动触发FEK轮换，保障长期使用的密钥安全性与时效性。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8509000" y="5867400"/>
            <a:ext cx="6985000" cy="965200"/>
          </a:xfrm>
          <a:prstGeom prst="roundRect">
            <a:avLst>
              <a:gd name="adj" fmla="val 0"/>
            </a:avLst>
          </a:prstGeom>
          <a:solidFill>
            <a:srgbClr val="C45D3C">
              <a:alpha val="94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Freeform 48"/>
          <p:cNvSpPr/>
          <p:nvPr/>
        </p:nvSpPr>
        <p:spPr>
          <a:xfrm>
            <a:off x="8712200" y="6121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55033" y="286494"/>
                </a:moveTo>
                <a:lnTo>
                  <a:pt x="69106" y="100567"/>
                </a:lnTo>
                <a:cubicBezTo>
                  <a:pt x="53548" y="122376"/>
                  <a:pt x="44450" y="149046"/>
                  <a:pt x="44450" y="177800"/>
                </a:cubicBezTo>
                <a:cubicBezTo>
                  <a:pt x="44450" y="251421"/>
                  <a:pt x="104179" y="311150"/>
                  <a:pt x="177800" y="311150"/>
                </a:cubicBezTo>
                <a:cubicBezTo>
                  <a:pt x="206623" y="311150"/>
                  <a:pt x="233293" y="302052"/>
                  <a:pt x="255033" y="286494"/>
                </a:cubicBezTo>
                <a:close/>
                <a:moveTo>
                  <a:pt x="286494" y="255033"/>
                </a:moveTo>
                <a:cubicBezTo>
                  <a:pt x="302052" y="233224"/>
                  <a:pt x="311150" y="206554"/>
                  <a:pt x="311150" y="177800"/>
                </a:cubicBezTo>
                <a:cubicBezTo>
                  <a:pt x="311150" y="104179"/>
                  <a:pt x="251421" y="44450"/>
                  <a:pt x="177800" y="44450"/>
                </a:cubicBezTo>
                <a:cubicBezTo>
                  <a:pt x="148977" y="44450"/>
                  <a:pt x="122307" y="53548"/>
                  <a:pt x="100567" y="69106"/>
                </a:cubicBezTo>
                <a:lnTo>
                  <a:pt x="286494" y="255033"/>
                </a:ln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</a:path>
            </a:pathLst>
          </a:custGeom>
          <a:solidFill>
            <a:srgbClr val="C45D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AutoShape 49"/>
          <p:cNvSpPr/>
          <p:nvPr/>
        </p:nvSpPr>
        <p:spPr>
          <a:xfrm>
            <a:off x="9220200" y="5969000"/>
            <a:ext cx="381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 彻底销毁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9220200" y="6299200"/>
            <a:ext cx="60706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用户注销账号或文件被彻底删除时，关联的密钥对与FEK记录将被物理清除，确保数据无法恢复。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8509000" y="6959600"/>
            <a:ext cx="6985000" cy="965200"/>
          </a:xfrm>
          <a:prstGeom prst="roundRect">
            <a:avLst>
              <a:gd name="adj" fmla="val 0"/>
            </a:avLst>
          </a:prstGeom>
          <a:solidFill>
            <a:srgbClr val="C45D3C">
              <a:alpha val="94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2" name="Freeform 52"/>
          <p:cNvSpPr/>
          <p:nvPr/>
        </p:nvSpPr>
        <p:spPr>
          <a:xfrm>
            <a:off x="8723312" y="7213600"/>
            <a:ext cx="333513" cy="355044"/>
          </a:xfrm>
          <a:custGeom>
            <a:avLst/>
            <a:gdLst/>
            <a:ahLst/>
            <a:cxnLst/>
            <a:rect l="l" t="t" r="r" b="b"/>
            <a:pathLst>
              <a:path w="333513" h="355044">
                <a:moveTo>
                  <a:pt x="166688" y="0"/>
                </a:moveTo>
                <a:cubicBezTo>
                  <a:pt x="169883" y="0"/>
                  <a:pt x="173077" y="695"/>
                  <a:pt x="175995" y="2014"/>
                </a:cubicBezTo>
                <a:lnTo>
                  <a:pt x="306844" y="57507"/>
                </a:lnTo>
                <a:cubicBezTo>
                  <a:pt x="322125" y="63966"/>
                  <a:pt x="333514" y="79038"/>
                  <a:pt x="333445" y="97234"/>
                </a:cubicBezTo>
                <a:cubicBezTo>
                  <a:pt x="333097" y="166133"/>
                  <a:pt x="304761" y="292189"/>
                  <a:pt x="185093" y="349487"/>
                </a:cubicBezTo>
                <a:cubicBezTo>
                  <a:pt x="173494" y="355044"/>
                  <a:pt x="160020" y="355044"/>
                  <a:pt x="148422" y="349487"/>
                </a:cubicBezTo>
                <a:cubicBezTo>
                  <a:pt x="28685" y="292189"/>
                  <a:pt x="417" y="166133"/>
                  <a:pt x="70" y="97234"/>
                </a:cubicBezTo>
                <a:cubicBezTo>
                  <a:pt x="0" y="79038"/>
                  <a:pt x="11391" y="63966"/>
                  <a:pt x="26670" y="57507"/>
                </a:cubicBezTo>
                <a:lnTo>
                  <a:pt x="157451" y="2014"/>
                </a:lnTo>
                <a:cubicBezTo>
                  <a:pt x="160368" y="695"/>
                  <a:pt x="163493" y="0"/>
                  <a:pt x="166688" y="0"/>
                </a:cubicBezTo>
                <a:close/>
                <a:moveTo>
                  <a:pt x="166688" y="46394"/>
                </a:moveTo>
                <a:lnTo>
                  <a:pt x="166688" y="308997"/>
                </a:lnTo>
                <a:cubicBezTo>
                  <a:pt x="262534" y="262602"/>
                  <a:pt x="288299" y="159812"/>
                  <a:pt x="288926" y="98276"/>
                </a:cubicBezTo>
                <a:lnTo>
                  <a:pt x="166688" y="46464"/>
                </a:lnTo>
                <a:lnTo>
                  <a:pt x="166688" y="46464"/>
                </a:lnTo>
                <a:close/>
              </a:path>
            </a:pathLst>
          </a:custGeom>
          <a:solidFill>
            <a:srgbClr val="C45D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3" name="AutoShape 53"/>
          <p:cNvSpPr/>
          <p:nvPr/>
        </p:nvSpPr>
        <p:spPr>
          <a:xfrm>
            <a:off x="9220200" y="7061200"/>
            <a:ext cx="381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 审计留痕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9220200" y="7391400"/>
            <a:ext cx="60706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所有密钥操作（生成、分发、轮换、销毁）均记录完整审计日志，满足企业合规与溯源要求。</a:t>
            </a:r>
            <a:endParaRPr lang="en-US" sz="1100"/>
          </a:p>
        </p:txBody>
      </p:sp>
      <p:sp>
        <p:nvSpPr>
          <p:cNvPr id="55" name="AutoShape 55"/>
          <p:cNvSpPr/>
          <p:nvPr/>
        </p:nvSpPr>
        <p:spPr>
          <a:xfrm>
            <a:off x="15240000" y="8763000"/>
            <a:ext cx="508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254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 项目背景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302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 需求分析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 系统架构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398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 安全机制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446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 需求规格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" y="711200"/>
            <a:ext cx="50800" cy="4064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12800" y="711200"/>
            <a:ext cx="12700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8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需求规格说明书：功能模块与用例</a:t>
            </a:r>
            <a:endParaRPr lang="en-US" sz="1100"/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609600" y="1371600"/>
          <a:ext cx="15036800" cy="2616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705100"/>
                <a:gridCol w="5562600"/>
                <a:gridCol w="6769100"/>
              </a:tblGrid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功能模块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主要功能描述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关键技术特性与实现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>
                        <a:alpha val="100000"/>
                      </a:srgbClr>
                    </a:solidFill>
                  </a:tcPr>
                </a:tc>
              </a:tr>
              <a:tr h="431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透明加密模块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负责核心文件的实时加解密操作，确保数据落盘即加密、读取即解密；集成GCM模式完整性校验，防止文件被非法篡改。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采用AES-256-GCM国密算法标准；基于文件过滤驱动（FSD）实现内核层透明加解密，避免应用层Hook拦截风险。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31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密钥管理模块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统筹用户公私钥对的全生命周期管理，包括生成、分发、轮换与销毁；负责文件密钥（FEK）的安全封装与存储管理。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RSA-2048非对称加密保护FEK；密钥采用硬件级加密存储（TPM/密钥库）；支持基于策略的自动密钥轮换机制。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  <a:tr h="431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权限管理模块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构建基于角色的访问控制（RBAC）体系，细粒度管控用户对文件资源的操作权限；实时进行访问请求的决策判定。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实现用户-角色-权限的动态映射；支持文件级、操作级的最小权限原则配置；集成ABAC属性访问控制作为补充策略。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31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USB管控模块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监控并管控所有USB外设接入行为，维护设备黑白名单库；主动检测BadUSB攻击特征，阻断恶意设备的识别与通信。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基于设备PID/VID的黑白名单过滤；内核层拦截USB驱动加载；实时检测USB设备的HID键盘模拟等异常通信行为。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  <a:tr h="431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安全审计模块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全链路记录系统关键操作日志，涵盖用户登录、文件访问、加解密、外设接入等行为；保障日志数据的完整性与防篡改性。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日志采用哈希链式存储结构；关键日志进行数字签名；支持日志的实时检索、行为溯源与合规性审计报表生成。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AutoShape 12"/>
          <p:cNvSpPr/>
          <p:nvPr/>
        </p:nvSpPr>
        <p:spPr>
          <a:xfrm>
            <a:off x="15240000" y="8636000"/>
            <a:ext cx="508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lang="en-US" sz="1100"/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609600" y="4572000"/>
          <a:ext cx="15036800" cy="3251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/>
                <a:gridCol w="12496800"/>
              </a:tblGrid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用例编号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用例名称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UC-001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用户身份认证体系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UC-002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文件透明加解密核心流程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UC-007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多用户协作与安全审计闭环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UC-008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基于角色的访问控制(RBAC)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UC-013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USB设备接入管控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UC-014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安全审计日志记录与查询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UC-019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密钥生命周期管理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UC-022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系统异常监控与告警</a:t>
                      </a:r>
                      <a:endParaRPr lang="en-US" sz="1100"/>
                    </a:p>
                  </a:txBody>
                  <a:tcPr marL="50800" marR="50800" marT="50800" marB="5080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254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 项目背景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302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 需求分析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 系统架构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398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 安全机制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" y="711200"/>
            <a:ext cx="50800" cy="4064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12800" y="711200"/>
            <a:ext cx="6350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800" b="1" i="0" u="none" strike="noStrike">
                <a:solidFill>
                  <a:srgbClr val="1B3A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人员分工</a:t>
            </a:r>
            <a:endParaRPr lang="en-US" sz="1100"/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609600" y="1371600"/>
          <a:ext cx="150368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705100"/>
                <a:gridCol w="5562600"/>
                <a:gridCol w="6769100"/>
              </a:tblGrid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岗位</a:t>
                      </a:r>
                      <a:endParaRPr lang="en-US" sz="1100"/>
                    </a:p>
                  </a:txBody>
                  <a:tcPr marL="50800" marR="50800" marT="0" marB="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核心职责</a:t>
                      </a:r>
                      <a:endParaRPr lang="en-US" sz="1100"/>
                    </a:p>
                  </a:txBody>
                  <a:tcPr marL="50800" marR="50800" marT="0" marB="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主要产出物</a:t>
                      </a:r>
                      <a:endParaRPr lang="en-US" sz="1100"/>
                    </a:p>
                  </a:txBody>
                  <a:tcPr marL="50800" marR="50800" marT="0" marB="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>
                        <a:alpha val="100000"/>
                      </a:srgbClr>
                    </a:solidFill>
                  </a:tcPr>
                </a:tc>
              </a:tr>
              <a:tr h="596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2000"/>
                        <a:t>王昊</a:t>
                      </a:r>
                      <a:endParaRPr lang="zh-CN" altLang="en-US" sz="2000"/>
                    </a:p>
                  </a:txBody>
                  <a:tcPr marL="50800" marR="50800" marT="0" marB="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负责整体架构设计，把控项目进度与技术方向，协调团队工作</a:t>
                      </a:r>
                      <a:endParaRPr lang="en-US" sz="1100"/>
                    </a:p>
                  </a:txBody>
                  <a:tcPr marL="50800" marR="50800" marT="0" marB="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系统架构图、总体技术方案文档、项目进度规划表</a:t>
                      </a:r>
                      <a:endParaRPr lang="en-US" sz="1100"/>
                    </a:p>
                  </a:txBody>
                  <a:tcPr marL="50800" marR="50800" marT="0" marB="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96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2000"/>
                        <a:t>唐骏宇</a:t>
                      </a:r>
                      <a:endParaRPr lang="zh-CN" altLang="en-US" sz="2000"/>
                    </a:p>
                  </a:txBody>
                  <a:tcPr marL="50800" marR="50800" marT="0" marB="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专注内核层加密模块的代码编写与底层逻辑实现，保障安全基础</a:t>
                      </a:r>
                      <a:endParaRPr lang="en-US" sz="1100"/>
                    </a:p>
                  </a:txBody>
                  <a:tcPr marL="50800" marR="50800" marT="0" marB="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内核驱动源码文件、模块测试日志、内核层接口说明文档</a:t>
                      </a:r>
                      <a:endParaRPr lang="en-US" sz="1100"/>
                    </a:p>
                  </a:txBody>
                  <a:tcPr marL="50800" marR="50800" marT="0" marB="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  <a:tr h="596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2000"/>
                        <a:t>马骏飞</a:t>
                      </a:r>
                      <a:endParaRPr lang="zh-CN" altLang="en-US" sz="2000"/>
                    </a:p>
                  </a:txBody>
                  <a:tcPr marL="50800" marR="50800" marT="0" marB="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负责后台业务逻辑开发，实现用户交互与系统功能的上层服务</a:t>
                      </a:r>
                      <a:endParaRPr lang="en-US" sz="1100"/>
                    </a:p>
                  </a:txBody>
                  <a:tcPr marL="50800" marR="50800" marT="0" marB="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服务端程序源码、接口文档、应用层功能演示demo</a:t>
                      </a:r>
                      <a:endParaRPr lang="en-US" sz="1100"/>
                    </a:p>
                  </a:txBody>
                  <a:tcPr marL="50800" marR="50800" marT="0" marB="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96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2000"/>
                        <a:t>华振杨</a:t>
                      </a:r>
                      <a:endParaRPr lang="zh-CN" altLang="en-US" sz="2000"/>
                    </a:p>
                  </a:txBody>
                  <a:tcPr marL="50800" marR="50800" marT="0" marB="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执行功能测试、性能测试与安全验证，排查系统缺陷与漏洞</a:t>
                      </a:r>
                      <a:endParaRPr lang="en-US" sz="1100"/>
                    </a:p>
                  </a:txBody>
                  <a:tcPr marL="50800" marR="50800" marT="0" marB="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测试用例集、系统测试报告、Bug修复追踪表、安全验证分析</a:t>
                      </a:r>
                      <a:endParaRPr lang="en-US" sz="1100"/>
                    </a:p>
                  </a:txBody>
                  <a:tcPr marL="50800" marR="50800" marT="0" marB="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  <a:tr h="596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2000"/>
                        <a:t>华振杨</a:t>
                      </a:r>
                      <a:endParaRPr lang="zh-CN" altLang="en-US" sz="2000"/>
                    </a:p>
                  </a:txBody>
                  <a:tcPr marL="50800" marR="50800" marT="0" marB="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负责项目全流程文档整理，包括技术文档、汇报PPT及说明文档</a:t>
                      </a:r>
                      <a:endParaRPr lang="en-US" sz="1100"/>
                    </a:p>
                  </a:txBody>
                  <a:tcPr marL="50800" marR="50800" marT="0" marB="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项目需求文档、设计文档、开发手册、最终汇报PPT及演示文稿</a:t>
                      </a:r>
                      <a:endParaRPr lang="en-US" sz="1100"/>
                    </a:p>
                  </a:txBody>
                  <a:tcPr marL="50800" marR="50800" marT="0" marB="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AutoShape 12"/>
          <p:cNvSpPr/>
          <p:nvPr/>
        </p:nvSpPr>
        <p:spPr>
          <a:xfrm>
            <a:off x="609600" y="5207000"/>
            <a:ext cx="3810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09600" y="8432800"/>
            <a:ext cx="762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注：各岗位根据实际团队人数灵活调配，关键产出物需经团队评审确认后方可进入下一阶段。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15240000" y="8763000"/>
            <a:ext cx="508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819" b="819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B3A5C">
                  <a:alpha val="91000"/>
                </a:srgbClr>
              </a:gs>
              <a:gs pos="50000">
                <a:srgbClr val="1B3A5C">
                  <a:alpha val="82000"/>
                </a:srgbClr>
              </a:gs>
              <a:gs pos="100000">
                <a:srgbClr val="1B3A5C">
                  <a:alpha val="69000"/>
                </a:srgbClr>
              </a:gs>
            </a:gsLst>
            <a:lin ang="5400000"/>
          </a:gra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254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302000" y="101600"/>
            <a:ext cx="279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70000" y="1016000"/>
            <a:ext cx="13716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总结与展望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858000" y="1727200"/>
            <a:ext cx="2540000" cy="25400"/>
          </a:xfrm>
          <a:prstGeom prst="roundRect">
            <a:avLst>
              <a:gd name="adj" fmla="val 0"/>
            </a:avLst>
          </a:prstGeom>
          <a:solidFill>
            <a:srgbClr val="C45D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270000" y="2032000"/>
            <a:ext cx="3810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核心创新点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70000" y="2514600"/>
            <a:ext cx="67310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r>
              <a:rPr lang="en-US" sz="16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构建</a:t>
            </a: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多层次密钥管理体系</a:t>
            </a:r>
            <a:r>
              <a:rPr lang="en-US" sz="16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，实现密钥的安全隔离存储与按需灵活共享，保障核心密钥资产安全。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270000" y="3302000"/>
            <a:ext cx="67310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r>
              <a:rPr lang="en-US" sz="16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达成</a:t>
            </a: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透明化与安全性的统一</a:t>
            </a:r>
            <a:r>
              <a:rPr lang="en-US" sz="16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，采用内核层拦截技术实现文件加密，全程无感操作，不改变用户使用习惯。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70000" y="4089400"/>
            <a:ext cx="67310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r>
              <a:rPr lang="en-US" sz="16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建立全流程</a:t>
            </a: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立体化防护模型</a:t>
            </a:r>
            <a:r>
              <a:rPr lang="en-US" sz="16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，深度融合RBAC权限模型与USB外设管控策略，构建端到端的完整安全防护链条。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55000" y="2514600"/>
            <a:ext cx="67310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r>
              <a:rPr lang="en-US" sz="16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实现</a:t>
            </a: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细粒度的权限动态管控</a:t>
            </a:r>
            <a:r>
              <a:rPr lang="en-US" sz="16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，针对不同角色分配差异化文件访问权限，确保最小权限原则落地执行。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55000" y="3302000"/>
            <a:ext cx="67310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r>
              <a:rPr lang="en-US" sz="16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完善外设安全闭环管理，对USB等外接存储设备实施自动化识别与拦截，从源头阻断数据泄露风险。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255000" y="4089400"/>
            <a:ext cx="67310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r>
              <a:rPr lang="en-US" sz="16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形成标准化的安全落地流程，将技术方案转化为可复用、可推广的企业级文件安全管理规范与实施准则。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270000" y="5016500"/>
            <a:ext cx="137160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251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270000" y="5283200"/>
            <a:ext cx="3810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预期交付目标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270000" y="5765800"/>
            <a:ext cx="137160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成功研发并交付一套</a:t>
            </a:r>
            <a:r>
              <a:rPr lang="en-US" sz="16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可完整演示的企业私有文件安全访问控制原型系统</a:t>
            </a:r>
            <a:r>
              <a:rPr lang="en-US" sz="16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，系统功能完备、流程闭环，能够支撑企业核心文件的安全管理需求。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C45D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lang="en-US" sz="15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核心能力覆盖：文件透明加解密服务 · 多维度用户身份认证体系 · 精细化RBAC权限管控 · 智能USB外设安全拦截。</a:t>
            </a:r>
            <a:endParaRPr lang="en-US" sz="1500" b="0" i="0" u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2540000" y="7162800"/>
            <a:ext cx="1117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感谢各位老师同学的聆听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080000" y="7874000"/>
            <a:ext cx="609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请批评指正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0" y="9017000"/>
            <a:ext cx="16256000" cy="127000"/>
          </a:xfrm>
          <a:prstGeom prst="roundRect">
            <a:avLst>
              <a:gd name="adj" fmla="val 0"/>
            </a:avLst>
          </a:prstGeom>
          <a:solidFill>
            <a:srgbClr val="C45D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15240000" y="8763000"/>
            <a:ext cx="508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 lang="en-US" sz="1100"/>
          </a:p>
        </p:txBody>
      </p:sp>
      <p:sp>
        <p:nvSpPr>
          <p:cNvPr id="27" name="矩形 26"/>
          <p:cNvSpPr/>
          <p:nvPr/>
        </p:nvSpPr>
        <p:spPr>
          <a:xfrm>
            <a:off x="107950" y="8576310"/>
            <a:ext cx="1213485" cy="376555"/>
          </a:xfrm>
          <a:prstGeom prst="rect">
            <a:avLst/>
          </a:prstGeom>
          <a:solidFill>
            <a:srgbClr val="17304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6364</Words>
  <Application>WPS 演示</Application>
  <PresentationFormat/>
  <Paragraphs>620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Arial</vt:lpstr>
      <vt:lpstr>Quattrocento Sans</vt:lpstr>
      <vt:lpstr>Segoe Print</vt:lpstr>
      <vt:lpstr>Calibri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WPS_1491899878</cp:lastModifiedBy>
  <cp:revision>6</cp:revision>
  <dcterms:created xsi:type="dcterms:W3CDTF">2026-06-30T01:34:00Z</dcterms:created>
  <dcterms:modified xsi:type="dcterms:W3CDTF">2026-06-30T06:13:28Z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{"Label":"1","ContentProducer":"001191110102MACQD9K64010000","ProduceID":"7656995143869909980","ReservedCode1":"","ContentPropagator":"","PropagateID":"","ReservedCode2":""}</vt:lpwstr>
  </property>
  <property fmtid="{D5CDD505-2E9C-101B-9397-08002B2CF9AE}" pid="3" name="ICV">
    <vt:lpwstr>7E33CC80D4B749529BA0A39FE74E9ADC_12</vt:lpwstr>
  </property>
  <property fmtid="{D5CDD505-2E9C-101B-9397-08002B2CF9AE}" pid="4" name="KSOProductBuildVer">
    <vt:lpwstr>2052-12.1.0.26895</vt:lpwstr>
  </property>
</Properties>
</file>